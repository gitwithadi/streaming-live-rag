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rive.google.com/drive/folders/1ESU7GciUw4PzpmSpQ577GnLWuoR0X458?usp=shar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endParaRPr dirty="0"/>
          </a:p>
          <a:p>
            <a:pPr>
              <a:spcAft>
                <a:spcPts val="200"/>
              </a:spcAft>
            </a:pPr>
            <a:r>
              <a:rPr sz="1300" b="1" dirty="0">
                <a:solidFill>
                  <a:srgbClr val="212529"/>
                </a:solidFill>
                <a:latin typeface="Calibri"/>
              </a:rPr>
              <a:t>Theme ID - </a:t>
            </a:r>
            <a:r>
              <a:rPr sz="1300" b="0" dirty="0">
                <a:solidFill>
                  <a:srgbClr val="704EA6"/>
                </a:solidFill>
                <a:latin typeface="Calibri"/>
              </a:rPr>
              <a:t>Theme 04: Streaming Live RAG</a:t>
            </a:r>
          </a:p>
          <a:p>
            <a:pPr>
              <a:spcAft>
                <a:spcPts val="200"/>
              </a:spcAft>
            </a:pPr>
            <a:r>
              <a:rPr sz="1300" b="1" dirty="0">
                <a:solidFill>
                  <a:srgbClr val="212529"/>
                </a:solidFill>
                <a:latin typeface="Calibri"/>
              </a:rPr>
              <a:t>Team Name - </a:t>
            </a:r>
            <a:r>
              <a:rPr lang="en-IN" sz="1400" b="1" dirty="0"/>
              <a:t>Slightly Hallucinating</a:t>
            </a:r>
            <a:endParaRPr sz="1300" b="1" dirty="0">
              <a:solidFill>
                <a:srgbClr val="D9383A"/>
              </a:solidFill>
              <a:latin typeface="Calibri"/>
            </a:endParaRPr>
          </a:p>
          <a:p>
            <a:pPr>
              <a:spcAft>
                <a:spcPts val="200"/>
              </a:spcAft>
            </a:pPr>
            <a:r>
              <a:rPr sz="1300" b="1" dirty="0">
                <a:solidFill>
                  <a:srgbClr val="212529"/>
                </a:solidFill>
                <a:latin typeface="Calibri"/>
              </a:rPr>
              <a:t>College Name </a:t>
            </a:r>
            <a:r>
              <a:rPr lang="en-IN" sz="1300" b="1" dirty="0">
                <a:solidFill>
                  <a:schemeClr val="tx1">
                    <a:lumMod val="95000"/>
                    <a:lumOff val="5000"/>
                  </a:schemeClr>
                </a:solidFill>
                <a:latin typeface="Calibri"/>
              </a:rPr>
              <a:t>– Vellore Institute of Technology, Vellore</a:t>
            </a:r>
            <a:endParaRPr sz="1300" b="1" dirty="0">
              <a:solidFill>
                <a:schemeClr val="tx1">
                  <a:lumMod val="95000"/>
                  <a:lumOff val="5000"/>
                </a:schemeClr>
              </a:solidFill>
              <a:latin typeface="Calibri"/>
            </a:endParaRPr>
          </a:p>
          <a:p>
            <a:pPr>
              <a:spcAft>
                <a:spcPts val="200"/>
              </a:spcAft>
            </a:pPr>
            <a:r>
              <a:rPr sz="1300" b="1" dirty="0">
                <a:solidFill>
                  <a:srgbClr val="212529"/>
                </a:solidFill>
                <a:latin typeface="Calibri"/>
              </a:rPr>
              <a:t>Member Name &amp; Email  - </a:t>
            </a:r>
            <a:r>
              <a:rPr lang="en-IN" sz="1300" b="1" dirty="0">
                <a:solidFill>
                  <a:schemeClr val="tx1">
                    <a:lumMod val="95000"/>
                    <a:lumOff val="5000"/>
                  </a:schemeClr>
                </a:solidFill>
                <a:latin typeface="Calibri"/>
              </a:rPr>
              <a:t>Aditya Pratap , adityapratap.1226@gmail.com</a:t>
            </a:r>
            <a:endParaRPr sz="1300" b="1" dirty="0">
              <a:solidFill>
                <a:schemeClr val="tx1">
                  <a:lumMod val="95000"/>
                  <a:lumOff val="5000"/>
                </a:schemeClr>
              </a:solidFill>
              <a:latin typeface="Calibri"/>
            </a:endParaRPr>
          </a:p>
          <a:p>
            <a:pPr>
              <a:spcAft>
                <a:spcPts val="200"/>
              </a:spcAft>
            </a:pPr>
            <a:r>
              <a:rPr sz="1300" b="1" dirty="0">
                <a:solidFill>
                  <a:srgbClr val="212529"/>
                </a:solidFill>
                <a:latin typeface="Calibri"/>
              </a:rPr>
              <a:t>Submission </a:t>
            </a:r>
            <a:r>
              <a:rPr sz="1300" b="1" dirty="0" err="1">
                <a:solidFill>
                  <a:srgbClr val="212529"/>
                </a:solidFill>
                <a:latin typeface="Calibri"/>
              </a:rPr>
              <a:t>Github</a:t>
            </a:r>
            <a:r>
              <a:rPr sz="1300" b="1" dirty="0">
                <a:solidFill>
                  <a:srgbClr val="212529"/>
                </a:solidFill>
                <a:latin typeface="Calibri"/>
              </a:rPr>
              <a:t> link - </a:t>
            </a:r>
            <a:r>
              <a:rPr lang="en-IN" sz="1300" b="1" dirty="0">
                <a:solidFill>
                  <a:srgbClr val="212529"/>
                </a:solidFill>
              </a:rPr>
              <a:t>https://github.com/GitWithAdi/Streaming-Live-RAG/tree/PRISM_GENAI_HACKATHON_Y2026</a:t>
            </a:r>
          </a:p>
          <a:p>
            <a:pPr>
              <a:spcAft>
                <a:spcPts val="200"/>
              </a:spcAft>
            </a:pPr>
            <a:endParaRPr sz="1300" b="1" dirty="0">
              <a:solidFill>
                <a:srgbClr val="D9383A"/>
              </a:solidFill>
              <a:latin typeface="Calibri"/>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a:p>
          <a:p>
            <a:pPr>
              <a:spcBef>
                <a:spcPts val="200"/>
              </a:spcBef>
              <a:spcAft>
                <a:spcPts val="400"/>
              </a:spcAft>
            </a:pPr>
            <a:r>
              <a:rPr sz="1700" b="1">
                <a:solidFill>
                  <a:srgbClr val="704EA6"/>
                </a:solidFill>
                <a:latin typeface="Calibri"/>
              </a:rPr>
              <a:t>Theme Overview: Real-Time Incremental Retrieval, Multi-Intent Decomposition, &amp; State Refinement</a:t>
            </a:r>
          </a:p>
          <a:p>
            <a:pPr>
              <a:spcBef>
                <a:spcPts val="200"/>
              </a:spcBef>
              <a:spcAft>
                <a:spcPts val="400"/>
              </a:spcAft>
            </a:pPr>
            <a:r>
              <a:rPr sz="1500" b="1">
                <a:solidFill>
                  <a:srgbClr val="212529"/>
                </a:solidFill>
                <a:latin typeface="Calibri"/>
              </a:rPr>
              <a:t>The Real-Time Conversational Dilemma:</a:t>
            </a:r>
          </a:p>
          <a:p>
            <a:pPr lvl="1">
              <a:spcBef>
                <a:spcPts val="200"/>
              </a:spcBef>
              <a:spcAft>
                <a:spcPts val="400"/>
              </a:spcAft>
            </a:pPr>
            <a:r>
              <a:rPr sz="1300" b="0">
                <a:solidFill>
                  <a:srgbClr val="212529"/>
                </a:solidFill>
                <a:latin typeface="Calibri"/>
              </a:rPr>
              <a:t>Traditional RAG systems follow a rigid 'stop-and-wait' turn cycle: wait for speech to finish -&gt; transcribe -&gt; retrieve -&gt; generate. This introduces 2-4 seconds of unnatural silence in conversational voice interactions.</a:t>
            </a:r>
          </a:p>
          <a:p>
            <a:pPr lvl="1">
              <a:spcBef>
                <a:spcPts val="200"/>
              </a:spcBef>
              <a:spcAft>
                <a:spcPts val="400"/>
              </a:spcAft>
            </a:pPr>
            <a:r>
              <a:rPr sz="1300" b="0">
                <a:solidFill>
                  <a:srgbClr val="212529"/>
                </a:solidFill>
                <a:latin typeface="Calibri"/>
              </a:rPr>
              <a:t>Spoken requests package multiple implied intents simultaneously (e.g. asking venue capacity, cancellation rules, and catering in a single breath).</a:t>
            </a:r>
          </a:p>
          <a:p>
            <a:pPr lvl="1">
              <a:spcBef>
                <a:spcPts val="200"/>
              </a:spcBef>
              <a:spcAft>
                <a:spcPts val="400"/>
              </a:spcAft>
            </a:pPr>
            <a:r>
              <a:rPr sz="1300" b="0">
                <a:solidFill>
                  <a:srgbClr val="212529"/>
                </a:solidFill>
                <a:latin typeface="Calibri"/>
              </a:rPr>
              <a:t>Users introduce late-arriving constraints mid-flow ('Actually, the trip was international'). Conventional systems either wipe prior context or restart the entire search from scratch.</a:t>
            </a:r>
          </a:p>
          <a:p>
            <a:pPr>
              <a:spcBef>
                <a:spcPts val="200"/>
              </a:spcBef>
              <a:spcAft>
                <a:spcPts val="400"/>
              </a:spcAft>
            </a:pPr>
            <a:r>
              <a:rPr sz="1500" b="1">
                <a:solidFill>
                  <a:srgbClr val="212529"/>
                </a:solidFill>
                <a:latin typeface="Calibri"/>
              </a:rPr>
              <a:t>Core Objective of Our Streaming Live RAG Engine:</a:t>
            </a:r>
          </a:p>
          <a:p>
            <a:pPr lvl="1">
              <a:spcBef>
                <a:spcPts val="200"/>
              </a:spcBef>
              <a:spcAft>
                <a:spcPts val="400"/>
              </a:spcAft>
            </a:pPr>
            <a:r>
              <a:rPr sz="1300" b="0">
                <a:solidFill>
                  <a:srgbClr val="212529"/>
                </a:solidFill>
                <a:latin typeface="Calibri"/>
              </a:rPr>
              <a:t>1. Listen Incrementally: Predict retrieval intent and initiate search before the speaker finishes speaking (1,300 ms early lead-time gain).</a:t>
            </a:r>
          </a:p>
          <a:p>
            <a:pPr lvl="1">
              <a:spcBef>
                <a:spcPts val="200"/>
              </a:spcBef>
              <a:spcAft>
                <a:spcPts val="400"/>
              </a:spcAft>
            </a:pPr>
            <a:r>
              <a:rPr sz="1300" b="0">
                <a:solidFill>
                  <a:srgbClr val="212529"/>
                </a:solidFill>
                <a:latin typeface="Calibri"/>
              </a:rPr>
              <a:t>2. Decompose Multi-Intents: Extract distinct orthogonal queries and execute parallel searches while preserving context anchors.</a:t>
            </a:r>
          </a:p>
          <a:p>
            <a:pPr lvl="1">
              <a:spcBef>
                <a:spcPts val="200"/>
              </a:spcBef>
              <a:spcAft>
                <a:spcPts val="400"/>
              </a:spcAft>
            </a:pPr>
            <a:r>
              <a:rPr sz="1300" b="0">
                <a:solidFill>
                  <a:srgbClr val="212529"/>
                </a:solidFill>
                <a:latin typeface="Calibri"/>
              </a:rPr>
              <a:t>3. Refine Rather Than Restart: Mutate answer states in-place (v1 -&gt; v2) upon late constraints without clearing session state.</a:t>
            </a:r>
          </a:p>
          <a:p>
            <a:pPr lvl="1">
              <a:spcBef>
                <a:spcPts val="200"/>
              </a:spcBef>
              <a:spcAft>
                <a:spcPts val="400"/>
              </a:spcAft>
            </a:pPr>
            <a:r>
              <a:rPr sz="1300" b="0">
                <a:solidFill>
                  <a:srgbClr val="212529"/>
                </a:solidFill>
                <a:latin typeface="Calibri"/>
              </a:rPr>
              <a:t>4. Strict Factual Grounding: Enforce [Doc_ID §Section] provenance with zero hallucinated document IDs and explicit uncertainty alerts.</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dirty="0"/>
          </a:p>
          <a:p>
            <a:pPr>
              <a:spcBef>
                <a:spcPts val="200"/>
              </a:spcBef>
              <a:spcAft>
                <a:spcPts val="400"/>
              </a:spcAft>
            </a:pPr>
            <a:r>
              <a:rPr sz="1600" b="1" dirty="0">
                <a:solidFill>
                  <a:srgbClr val="704EA6"/>
                </a:solidFill>
                <a:latin typeface="Calibri"/>
              </a:rPr>
              <a:t>Critical Gaps in Current Production RAG Architectures:</a:t>
            </a:r>
          </a:p>
          <a:p>
            <a:pPr>
              <a:spcBef>
                <a:spcPts val="200"/>
              </a:spcBef>
              <a:spcAft>
                <a:spcPts val="400"/>
              </a:spcAft>
            </a:pPr>
            <a:r>
              <a:rPr sz="1400" b="1" dirty="0">
                <a:solidFill>
                  <a:schemeClr val="tx1">
                    <a:lumMod val="95000"/>
                    <a:lumOff val="5000"/>
                  </a:schemeClr>
                </a:solidFill>
                <a:latin typeface="Calibri"/>
              </a:rPr>
              <a:t>1. High Conversational Latency (Turn-Based Serialization):</a:t>
            </a:r>
          </a:p>
          <a:p>
            <a:pPr lvl="1">
              <a:spcBef>
                <a:spcPts val="200"/>
              </a:spcBef>
              <a:spcAft>
                <a:spcPts val="400"/>
              </a:spcAft>
            </a:pPr>
            <a:r>
              <a:rPr sz="1300" b="0" dirty="0">
                <a:solidFill>
                  <a:schemeClr val="tx1">
                    <a:lumMod val="95000"/>
                    <a:lumOff val="5000"/>
                  </a:schemeClr>
                </a:solidFill>
                <a:latin typeface="Calibri"/>
              </a:rPr>
              <a:t>Standard voice RAG waits for complete Voice Activity Detection (VAD) silence before issuing vector search, causing jarring multi-second pauses.</a:t>
            </a:r>
          </a:p>
          <a:p>
            <a:pPr>
              <a:spcBef>
                <a:spcPts val="200"/>
              </a:spcBef>
              <a:spcAft>
                <a:spcPts val="400"/>
              </a:spcAft>
            </a:pPr>
            <a:r>
              <a:rPr sz="1400" b="1" dirty="0">
                <a:solidFill>
                  <a:schemeClr val="tx1">
                    <a:lumMod val="95000"/>
                    <a:lumOff val="5000"/>
                  </a:schemeClr>
                </a:solidFill>
                <a:latin typeface="Calibri"/>
              </a:rPr>
              <a:t>2. Premature Search Thrashing vs. Semantic Blindness:</a:t>
            </a:r>
          </a:p>
          <a:p>
            <a:pPr lvl="1">
              <a:spcBef>
                <a:spcPts val="200"/>
              </a:spcBef>
              <a:spcAft>
                <a:spcPts val="400"/>
              </a:spcAft>
            </a:pPr>
            <a:r>
              <a:rPr sz="1300" b="0" dirty="0">
                <a:solidFill>
                  <a:schemeClr val="tx1">
                    <a:lumMod val="95000"/>
                    <a:lumOff val="5000"/>
                  </a:schemeClr>
                </a:solidFill>
                <a:latin typeface="Calibri"/>
              </a:rPr>
              <a:t>Naive streaming systems trigger vector search on every token, causing severe compute thrashing, noisy context windows, and high token costs.</a:t>
            </a:r>
          </a:p>
          <a:p>
            <a:pPr>
              <a:spcBef>
                <a:spcPts val="200"/>
              </a:spcBef>
              <a:spcAft>
                <a:spcPts val="400"/>
              </a:spcAft>
            </a:pPr>
            <a:r>
              <a:rPr sz="1400" b="1" dirty="0">
                <a:solidFill>
                  <a:schemeClr val="tx1">
                    <a:lumMod val="95000"/>
                    <a:lumOff val="5000"/>
                  </a:schemeClr>
                </a:solidFill>
                <a:latin typeface="Calibri"/>
              </a:rPr>
              <a:t>3. Context Loss on Late-Arriving Clarifications:</a:t>
            </a:r>
          </a:p>
          <a:p>
            <a:pPr lvl="1">
              <a:spcBef>
                <a:spcPts val="200"/>
              </a:spcBef>
              <a:spcAft>
                <a:spcPts val="400"/>
              </a:spcAft>
            </a:pPr>
            <a:r>
              <a:rPr sz="1300" b="0" dirty="0">
                <a:solidFill>
                  <a:schemeClr val="tx1">
                    <a:lumMod val="95000"/>
                    <a:lumOff val="5000"/>
                  </a:schemeClr>
                </a:solidFill>
                <a:latin typeface="Calibri"/>
              </a:rPr>
              <a:t>When a user provides a constraint update, existing systems either reset memory (losing prior facts) or concatenate blindly (inducing contradictions and hallucinated claims).</a:t>
            </a:r>
          </a:p>
          <a:p>
            <a:pPr>
              <a:spcBef>
                <a:spcPts val="200"/>
              </a:spcBef>
              <a:spcAft>
                <a:spcPts val="400"/>
              </a:spcAft>
            </a:pPr>
            <a:r>
              <a:rPr sz="1400" b="1" dirty="0">
                <a:solidFill>
                  <a:schemeClr val="tx1">
                    <a:lumMod val="95000"/>
                    <a:lumOff val="5000"/>
                  </a:schemeClr>
                </a:solidFill>
                <a:latin typeface="Calibri"/>
              </a:rPr>
              <a:t>4. Unnecessary Presentation-Turn Queries:</a:t>
            </a:r>
          </a:p>
          <a:p>
            <a:pPr lvl="1">
              <a:spcBef>
                <a:spcPts val="200"/>
              </a:spcBef>
              <a:spcAft>
                <a:spcPts val="400"/>
              </a:spcAft>
            </a:pPr>
            <a:r>
              <a:rPr sz="1300" b="0" dirty="0">
                <a:solidFill>
                  <a:schemeClr val="tx1">
                    <a:lumMod val="95000"/>
                    <a:lumOff val="5000"/>
                  </a:schemeClr>
                </a:solidFill>
                <a:latin typeface="Calibri"/>
              </a:rPr>
              <a:t>When a user asks to 'repeat in two bullets' or 'make it shorter', traditional pipelines waste vector database compute and risk semantic drift.</a:t>
            </a:r>
          </a:p>
          <a:p>
            <a:pPr>
              <a:spcBef>
                <a:spcPts val="200"/>
              </a:spcBef>
              <a:spcAft>
                <a:spcPts val="400"/>
              </a:spcAft>
            </a:pPr>
            <a:r>
              <a:rPr sz="1400" b="1" dirty="0">
                <a:solidFill>
                  <a:schemeClr val="tx1">
                    <a:lumMod val="95000"/>
                    <a:lumOff val="5000"/>
                  </a:schemeClr>
                </a:solidFill>
                <a:latin typeface="Calibri"/>
              </a:rPr>
              <a:t>5. Citation Hallucination &amp; Lack of Uncertainty Flagging:</a:t>
            </a:r>
          </a:p>
          <a:p>
            <a:pPr lvl="1">
              <a:spcBef>
                <a:spcPts val="200"/>
              </a:spcBef>
              <a:spcAft>
                <a:spcPts val="400"/>
              </a:spcAft>
            </a:pPr>
            <a:r>
              <a:rPr sz="1300" b="0" dirty="0">
                <a:solidFill>
                  <a:schemeClr val="tx1">
                    <a:lumMod val="95000"/>
                    <a:lumOff val="5000"/>
                  </a:schemeClr>
                </a:solidFill>
                <a:latin typeface="Calibri"/>
              </a:rPr>
              <a:t>When documents lack partial evidence, standard LLMs hallucinate plausible facts or generate fake document IDs (Doc_999).</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a:p>
        </p:txBody>
      </p:sp>
      <p:sp>
        <p:nvSpPr>
          <p:cNvPr id="4" name="Rounded Rectangle 3"/>
          <p:cNvSpPr/>
          <p:nvPr/>
        </p:nvSpPr>
        <p:spPr>
          <a:xfrm>
            <a:off x="841248" y="1554480"/>
            <a:ext cx="5120640" cy="1371600"/>
          </a:xfrm>
          <a:prstGeom prst="roundRect">
            <a:avLst/>
          </a:prstGeom>
          <a:solidFill>
            <a:srgbClr val="F6F4FA"/>
          </a:solidFill>
          <a:ln w="19050">
            <a:solidFill>
              <a:srgbClr val="704EA6"/>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spcAft>
                <a:spcPts val="200"/>
              </a:spcAft>
            </a:pPr>
            <a:r>
              <a:rPr sz="1400" b="1" dirty="0">
                <a:solidFill>
                  <a:srgbClr val="704EA6"/>
                </a:solidFill>
                <a:latin typeface="Calibri"/>
              </a:rPr>
              <a:t>[1] RETRIEVAL CONTROLLER</a:t>
            </a:r>
          </a:p>
          <a:p>
            <a:pPr>
              <a:spcAft>
                <a:spcPts val="100"/>
              </a:spcAft>
            </a:pPr>
            <a:r>
              <a:rPr sz="950" dirty="0">
                <a:solidFill>
                  <a:srgbClr val="212529"/>
                </a:solidFill>
                <a:latin typeface="Calibri"/>
              </a:rPr>
              <a:t>•  </a:t>
            </a:r>
            <a:r>
              <a:rPr sz="1100" dirty="0">
                <a:solidFill>
                  <a:srgbClr val="212529"/>
                </a:solidFill>
                <a:latin typeface="Calibri"/>
              </a:rPr>
              <a:t>Evaluates transcript stream chunks in real-time.</a:t>
            </a:r>
          </a:p>
          <a:p>
            <a:pPr>
              <a:spcAft>
                <a:spcPts val="100"/>
              </a:spcAft>
            </a:pPr>
            <a:r>
              <a:rPr sz="1100" dirty="0">
                <a:solidFill>
                  <a:srgbClr val="212529"/>
                </a:solidFill>
                <a:latin typeface="Calibri"/>
              </a:rPr>
              <a:t>•  Dangling clause check -&gt; WAIT at 0.0s.</a:t>
            </a:r>
          </a:p>
          <a:p>
            <a:pPr>
              <a:spcAft>
                <a:spcPts val="100"/>
              </a:spcAft>
            </a:pPr>
            <a:r>
              <a:rPr sz="1100" dirty="0">
                <a:solidFill>
                  <a:srgbClr val="212529"/>
                </a:solidFill>
                <a:latin typeface="Calibri"/>
              </a:rPr>
              <a:t>•  Entity stabilization -&gt; PROVISIONAL RETRIEVAL at 0.8s.</a:t>
            </a:r>
          </a:p>
          <a:p>
            <a:pPr>
              <a:spcAft>
                <a:spcPts val="100"/>
              </a:spcAft>
            </a:pPr>
            <a:r>
              <a:rPr sz="1100" dirty="0">
                <a:solidFill>
                  <a:srgbClr val="212529"/>
                </a:solidFill>
                <a:latin typeface="Calibri"/>
              </a:rPr>
              <a:t>•  Presentation detector -&gt; SUPPRESS search entirely.</a:t>
            </a:r>
          </a:p>
        </p:txBody>
      </p:sp>
      <p:sp>
        <p:nvSpPr>
          <p:cNvPr id="5" name="Rounded Rectangle 4"/>
          <p:cNvSpPr/>
          <p:nvPr/>
        </p:nvSpPr>
        <p:spPr>
          <a:xfrm>
            <a:off x="6217920" y="1554480"/>
            <a:ext cx="5120640" cy="1371600"/>
          </a:xfrm>
          <a:prstGeom prst="roundRect">
            <a:avLst/>
          </a:prstGeom>
          <a:solidFill>
            <a:srgbClr val="F6F4FA"/>
          </a:solidFill>
          <a:ln w="19050">
            <a:solidFill>
              <a:srgbClr val="704EA6"/>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spcAft>
                <a:spcPts val="200"/>
              </a:spcAft>
            </a:pPr>
            <a:r>
              <a:rPr sz="1400" b="1" dirty="0">
                <a:solidFill>
                  <a:srgbClr val="704EA6"/>
                </a:solidFill>
                <a:latin typeface="Calibri"/>
              </a:rPr>
              <a:t>[2] MULTI-INTENT DECOMPOSER</a:t>
            </a:r>
          </a:p>
          <a:p>
            <a:pPr>
              <a:spcAft>
                <a:spcPts val="100"/>
              </a:spcAft>
            </a:pPr>
            <a:r>
              <a:rPr sz="1100" dirty="0">
                <a:solidFill>
                  <a:srgbClr val="212529"/>
                </a:solidFill>
                <a:latin typeface="Calibri"/>
              </a:rPr>
              <a:t>•  Splits compound utterances into search-ready sub-queries.</a:t>
            </a:r>
          </a:p>
          <a:p>
            <a:pPr>
              <a:spcAft>
                <a:spcPts val="100"/>
              </a:spcAft>
            </a:pPr>
            <a:r>
              <a:rPr sz="1100" dirty="0">
                <a:solidFill>
                  <a:srgbClr val="212529"/>
                </a:solidFill>
                <a:latin typeface="Calibri"/>
              </a:rPr>
              <a:t>•  Propagates contextual anchors (Pune, Workshop).</a:t>
            </a:r>
          </a:p>
          <a:p>
            <a:pPr>
              <a:spcAft>
                <a:spcPts val="100"/>
              </a:spcAft>
            </a:pPr>
            <a:r>
              <a:rPr sz="1100" dirty="0">
                <a:solidFill>
                  <a:srgbClr val="212529"/>
                </a:solidFill>
                <a:latin typeface="Calibri"/>
              </a:rPr>
              <a:t>•  Anti-fragmentation filter avoids duplicate queries.</a:t>
            </a:r>
          </a:p>
        </p:txBody>
      </p:sp>
      <p:sp>
        <p:nvSpPr>
          <p:cNvPr id="6" name="Rounded Rectangle 5"/>
          <p:cNvSpPr/>
          <p:nvPr/>
        </p:nvSpPr>
        <p:spPr>
          <a:xfrm>
            <a:off x="841248" y="3063240"/>
            <a:ext cx="5120640" cy="1325880"/>
          </a:xfrm>
          <a:prstGeom prst="roundRect">
            <a:avLst/>
          </a:prstGeom>
          <a:solidFill>
            <a:srgbClr val="F6F4FA"/>
          </a:solidFill>
          <a:ln w="19050">
            <a:solidFill>
              <a:srgbClr val="704EA6"/>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spcAft>
                <a:spcPts val="200"/>
              </a:spcAft>
            </a:pPr>
            <a:r>
              <a:rPr sz="1400" b="1" dirty="0">
                <a:solidFill>
                  <a:srgbClr val="704EA6"/>
                </a:solidFill>
                <a:latin typeface="Calibri"/>
              </a:rPr>
              <a:t>[3] CORPUS-ISOLATED HYBRID FUSION</a:t>
            </a:r>
          </a:p>
          <a:p>
            <a:pPr>
              <a:spcAft>
                <a:spcPts val="100"/>
              </a:spcAft>
            </a:pPr>
            <a:r>
              <a:rPr sz="950" dirty="0">
                <a:solidFill>
                  <a:srgbClr val="212529"/>
                </a:solidFill>
                <a:latin typeface="Calibri"/>
              </a:rPr>
              <a:t>•  </a:t>
            </a:r>
            <a:r>
              <a:rPr sz="1100" dirty="0">
                <a:solidFill>
                  <a:srgbClr val="212529"/>
                </a:solidFill>
                <a:latin typeface="Calibri"/>
              </a:rPr>
              <a:t>Parallel retrieval across sub-queries.</a:t>
            </a:r>
          </a:p>
          <a:p>
            <a:pPr>
              <a:spcAft>
                <a:spcPts val="100"/>
              </a:spcAft>
            </a:pPr>
            <a:r>
              <a:rPr sz="1100" dirty="0">
                <a:solidFill>
                  <a:srgbClr val="212529"/>
                </a:solidFill>
                <a:latin typeface="Calibri"/>
              </a:rPr>
              <a:t>•  Dense </a:t>
            </a:r>
            <a:r>
              <a:rPr sz="1100" dirty="0" err="1">
                <a:solidFill>
                  <a:srgbClr val="212529"/>
                </a:solidFill>
                <a:latin typeface="Calibri"/>
              </a:rPr>
              <a:t>SentenceTransformers</a:t>
            </a:r>
            <a:r>
              <a:rPr sz="1100" dirty="0">
                <a:solidFill>
                  <a:srgbClr val="212529"/>
                </a:solidFill>
                <a:latin typeface="Calibri"/>
              </a:rPr>
              <a:t> + Sparse BM25Okapi.</a:t>
            </a:r>
          </a:p>
          <a:p>
            <a:pPr>
              <a:spcAft>
                <a:spcPts val="100"/>
              </a:spcAft>
            </a:pPr>
            <a:r>
              <a:rPr sz="1100" dirty="0">
                <a:solidFill>
                  <a:srgbClr val="212529"/>
                </a:solidFill>
                <a:latin typeface="Calibri"/>
              </a:rPr>
              <a:t>•  Reciprocal Rank Fusion (k=60) with deduplication.</a:t>
            </a:r>
          </a:p>
        </p:txBody>
      </p:sp>
      <p:sp>
        <p:nvSpPr>
          <p:cNvPr id="7" name="Rounded Rectangle 6"/>
          <p:cNvSpPr/>
          <p:nvPr/>
        </p:nvSpPr>
        <p:spPr>
          <a:xfrm>
            <a:off x="6217920" y="3063240"/>
            <a:ext cx="5120640" cy="1325880"/>
          </a:xfrm>
          <a:prstGeom prst="roundRect">
            <a:avLst/>
          </a:prstGeom>
          <a:solidFill>
            <a:srgbClr val="F6F4FA"/>
          </a:solidFill>
          <a:ln w="19050">
            <a:solidFill>
              <a:srgbClr val="704EA6"/>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spcAft>
                <a:spcPts val="200"/>
              </a:spcAft>
            </a:pPr>
            <a:r>
              <a:rPr sz="1400" b="1" dirty="0">
                <a:solidFill>
                  <a:srgbClr val="704EA6"/>
                </a:solidFill>
                <a:latin typeface="Calibri"/>
              </a:rPr>
              <a:t>[4] SESSION ANSWER DELTA ENGINE</a:t>
            </a:r>
          </a:p>
          <a:p>
            <a:pPr>
              <a:spcAft>
                <a:spcPts val="100"/>
              </a:spcAft>
            </a:pPr>
            <a:r>
              <a:rPr sz="950" dirty="0">
                <a:solidFill>
                  <a:srgbClr val="212529"/>
                </a:solidFill>
                <a:latin typeface="Calibri"/>
              </a:rPr>
              <a:t>•  </a:t>
            </a:r>
            <a:r>
              <a:rPr sz="1100" dirty="0">
                <a:solidFill>
                  <a:srgbClr val="212529"/>
                </a:solidFill>
                <a:latin typeface="Calibri"/>
              </a:rPr>
              <a:t>Maintains active claims graph in ephemeral memory.</a:t>
            </a:r>
          </a:p>
          <a:p>
            <a:pPr>
              <a:spcAft>
                <a:spcPts val="100"/>
              </a:spcAft>
            </a:pPr>
            <a:r>
              <a:rPr sz="1100" dirty="0">
                <a:solidFill>
                  <a:srgbClr val="212529"/>
                </a:solidFill>
                <a:latin typeface="Calibri"/>
              </a:rPr>
              <a:t>•  Dispatches targeted delta search for new constraints.</a:t>
            </a:r>
          </a:p>
          <a:p>
            <a:pPr>
              <a:spcAft>
                <a:spcPts val="100"/>
              </a:spcAft>
            </a:pPr>
            <a:r>
              <a:rPr sz="1100" dirty="0">
                <a:solidFill>
                  <a:srgbClr val="212529"/>
                </a:solidFill>
                <a:latin typeface="Calibri"/>
              </a:rPr>
              <a:t>•  Mutates affected claims in-place: Version 1 -&gt; Version 2.</a:t>
            </a:r>
          </a:p>
        </p:txBody>
      </p:sp>
      <p:sp>
        <p:nvSpPr>
          <p:cNvPr id="8" name="Rounded Rectangle 7"/>
          <p:cNvSpPr/>
          <p:nvPr/>
        </p:nvSpPr>
        <p:spPr>
          <a:xfrm>
            <a:off x="841248" y="4526280"/>
            <a:ext cx="10497312" cy="1234440"/>
          </a:xfrm>
          <a:prstGeom prst="roundRect">
            <a:avLst/>
          </a:prstGeom>
          <a:solidFill>
            <a:srgbClr val="F6F4FA"/>
          </a:solidFill>
          <a:ln w="19050">
            <a:solidFill>
              <a:srgbClr val="704EA6"/>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spcAft>
                <a:spcPts val="200"/>
              </a:spcAft>
            </a:pPr>
            <a:r>
              <a:rPr sz="1400" b="1" dirty="0">
                <a:solidFill>
                  <a:srgbClr val="704EA6"/>
                </a:solidFill>
                <a:latin typeface="Calibri"/>
              </a:rPr>
              <a:t>[5] GROUNDING &amp; TELEMETRY ENGINE</a:t>
            </a:r>
          </a:p>
          <a:p>
            <a:pPr algn="ctr">
              <a:spcAft>
                <a:spcPts val="100"/>
              </a:spcAft>
            </a:pPr>
            <a:r>
              <a:rPr sz="1100" dirty="0">
                <a:solidFill>
                  <a:srgbClr val="212529"/>
                </a:solidFill>
                <a:latin typeface="Calibri"/>
              </a:rPr>
              <a:t>•  Strict [</a:t>
            </a:r>
            <a:r>
              <a:rPr sz="1100" dirty="0" err="1">
                <a:solidFill>
                  <a:srgbClr val="212529"/>
                </a:solidFill>
                <a:latin typeface="Calibri"/>
              </a:rPr>
              <a:t>Doc_ID</a:t>
            </a:r>
            <a:r>
              <a:rPr sz="1100" dirty="0">
                <a:solidFill>
                  <a:srgbClr val="212529"/>
                </a:solidFill>
                <a:latin typeface="Calibri"/>
              </a:rPr>
              <a:t> §Section] citation provenance verification.</a:t>
            </a:r>
          </a:p>
          <a:p>
            <a:pPr algn="ctr">
              <a:spcAft>
                <a:spcPts val="100"/>
              </a:spcAft>
            </a:pPr>
            <a:r>
              <a:rPr sz="1100" dirty="0">
                <a:solidFill>
                  <a:srgbClr val="212529"/>
                </a:solidFill>
                <a:latin typeface="Calibri"/>
              </a:rPr>
              <a:t>•  Explicit uncertainty alerts on unindexed facts.</a:t>
            </a:r>
          </a:p>
          <a:p>
            <a:pPr algn="ctr">
              <a:spcAft>
                <a:spcPts val="100"/>
              </a:spcAft>
            </a:pPr>
            <a:r>
              <a:rPr sz="1100" dirty="0">
                <a:solidFill>
                  <a:srgbClr val="212529"/>
                </a:solidFill>
                <a:latin typeface="Calibri"/>
              </a:rPr>
              <a:t>•  Full JSON trace coverage with sub-second latencies.</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a:p>
          <a:p>
            <a:pPr>
              <a:spcBef>
                <a:spcPts val="200"/>
              </a:spcBef>
              <a:spcAft>
                <a:spcPts val="400"/>
              </a:spcAft>
            </a:pPr>
            <a:r>
              <a:rPr sz="1600" b="1">
                <a:solidFill>
                  <a:srgbClr val="704EA6"/>
                </a:solidFill>
                <a:latin typeface="Calibri"/>
              </a:rPr>
              <a:t>Live Demonstration Walkthrough (3 Core Benchmark Scenarios):</a:t>
            </a:r>
          </a:p>
          <a:p>
            <a:pPr>
              <a:spcBef>
                <a:spcPts val="200"/>
              </a:spcBef>
              <a:spcAft>
                <a:spcPts val="400"/>
              </a:spcAft>
            </a:pPr>
            <a:r>
              <a:rPr sz="1400" b="1">
                <a:solidFill>
                  <a:srgbClr val="1A73E8"/>
                </a:solidFill>
                <a:latin typeface="Calibri"/>
              </a:rPr>
              <a:t>Scenario 1: Incremental Multi-Intent Utterance (Example 1)</a:t>
            </a:r>
          </a:p>
          <a:p>
            <a:pPr lvl="1">
              <a:spcBef>
                <a:spcPts val="200"/>
              </a:spcBef>
              <a:spcAft>
                <a:spcPts val="400"/>
              </a:spcAft>
            </a:pPr>
            <a:r>
              <a:rPr sz="1200" b="0">
                <a:solidFill>
                  <a:srgbClr val="212529"/>
                </a:solidFill>
                <a:latin typeface="Calibri"/>
              </a:rPr>
              <a:t>• 0.0s: 'I need to plan a customer workshop in...' -&gt; Controller: WAIT (Dangling preposition, prevents noise thrashing)</a:t>
            </a:r>
          </a:p>
          <a:p>
            <a:pPr lvl="1">
              <a:spcBef>
                <a:spcPts val="200"/>
              </a:spcBef>
              <a:spcAft>
                <a:spcPts val="400"/>
              </a:spcAft>
            </a:pPr>
            <a:r>
              <a:rPr sz="1200" b="0">
                <a:solidFill>
                  <a:srgbClr val="212529"/>
                </a:solidFill>
                <a:latin typeface="Calibri"/>
              </a:rPr>
              <a:t>• 0.8s: '...Pune for 30 people, and I need...' -&gt; Controller: PROVISIONAL RETRIEVAL ('Pune workshop venue capacity 30', 1.3s lead time)</a:t>
            </a:r>
          </a:p>
          <a:p>
            <a:pPr lvl="1">
              <a:spcBef>
                <a:spcPts val="200"/>
              </a:spcBef>
              <a:spcAft>
                <a:spcPts val="400"/>
              </a:spcAft>
            </a:pPr>
            <a:r>
              <a:rPr sz="1200" b="0">
                <a:solidFill>
                  <a:srgbClr val="212529"/>
                </a:solidFill>
                <a:latin typeface="Calibri"/>
              </a:rPr>
              <a:t>• 1.6s: '...cancellation policy and catering options.' -&gt; DECOMPOSE: 3 parallel queries with Pune anchors dispatched</a:t>
            </a:r>
          </a:p>
          <a:p>
            <a:pPr lvl="1">
              <a:spcBef>
                <a:spcPts val="200"/>
              </a:spcBef>
              <a:spcAft>
                <a:spcPts val="400"/>
              </a:spcAft>
            </a:pPr>
            <a:r>
              <a:rPr sz="1200" b="0">
                <a:solidFill>
                  <a:srgbClr val="212529"/>
                </a:solidFill>
                <a:latin typeface="Calibri"/>
              </a:rPr>
              <a:t>• 2.1s: [FINAL] -&gt; Synthesizes single grounded response with citations [Doc_12 §2], [Doc_31 §4], [Doc_09 §1]</a:t>
            </a:r>
          </a:p>
          <a:p>
            <a:pPr>
              <a:spcBef>
                <a:spcPts val="200"/>
              </a:spcBef>
              <a:spcAft>
                <a:spcPts val="400"/>
              </a:spcAft>
            </a:pPr>
            <a:r>
              <a:rPr sz="1400" b="1">
                <a:solidFill>
                  <a:srgbClr val="1A73E8"/>
                </a:solidFill>
                <a:latin typeface="Calibri"/>
              </a:rPr>
              <a:t>Scenario 2: Late-Arriving Detail Refinement (Example 2)</a:t>
            </a:r>
          </a:p>
          <a:p>
            <a:pPr lvl="1">
              <a:spcBef>
                <a:spcPts val="200"/>
              </a:spcBef>
              <a:spcAft>
                <a:spcPts val="400"/>
              </a:spcAft>
            </a:pPr>
            <a:r>
              <a:rPr sz="1200" b="0">
                <a:solidFill>
                  <a:srgbClr val="212529"/>
                </a:solidFill>
                <a:latin typeface="Calibri"/>
              </a:rPr>
              <a:t>• Turn 1: User asks for employee travel reimbursement -&gt; Answer Version 1 citing [Doc_05 §1]</a:t>
            </a:r>
          </a:p>
          <a:p>
            <a:pPr lvl="1">
              <a:spcBef>
                <a:spcPts val="200"/>
              </a:spcBef>
              <a:spcAft>
                <a:spcPts val="400"/>
              </a:spcAft>
            </a:pPr>
            <a:r>
              <a:rPr sz="1200" b="0">
                <a:solidFill>
                  <a:srgbClr val="212529"/>
                </a:solidFill>
                <a:latin typeface="Calibri"/>
              </a:rPr>
              <a:t>• Turn 2: 'The trip was international and the booking was made after travel' -&gt; Delta Engine does NOT restart</a:t>
            </a:r>
          </a:p>
          <a:p>
            <a:pPr lvl="1">
              <a:spcBef>
                <a:spcPts val="200"/>
              </a:spcBef>
              <a:spcAft>
                <a:spcPts val="400"/>
              </a:spcAft>
            </a:pPr>
            <a:r>
              <a:rPr sz="1200" b="0">
                <a:solidFill>
                  <a:srgbClr val="212529"/>
                </a:solidFill>
                <a:latin typeface="Calibri"/>
              </a:rPr>
              <a:t>• Output: Increments to Answer Version 2, preserves [Doc_05 §1], adds delta citations [Doc_05 §3] and [Doc_07 §2]</a:t>
            </a:r>
          </a:p>
          <a:p>
            <a:pPr>
              <a:spcBef>
                <a:spcPts val="200"/>
              </a:spcBef>
              <a:spcAft>
                <a:spcPts val="400"/>
              </a:spcAft>
            </a:pPr>
            <a:r>
              <a:rPr sz="1400" b="1">
                <a:solidFill>
                  <a:srgbClr val="1A73E8"/>
                </a:solidFill>
                <a:latin typeface="Calibri"/>
              </a:rPr>
              <a:t>Scenario 3: Presentation Query Suppression (Example 3)</a:t>
            </a:r>
          </a:p>
          <a:p>
            <a:pPr lvl="1">
              <a:spcBef>
                <a:spcPts val="200"/>
              </a:spcBef>
              <a:spcAft>
                <a:spcPts val="400"/>
              </a:spcAft>
            </a:pPr>
            <a:r>
              <a:rPr sz="1200" b="0">
                <a:solidFill>
                  <a:srgbClr val="212529"/>
                </a:solidFill>
                <a:latin typeface="Calibri"/>
              </a:rPr>
              <a:t>• User: 'Please repeat your last answer in two bullets' -&gt; Controller: retrieval_required: false (presentation_restructure)</a:t>
            </a:r>
          </a:p>
          <a:p>
            <a:pPr lvl="1">
              <a:spcBef>
                <a:spcPts val="200"/>
              </a:spcBef>
              <a:spcAft>
                <a:spcPts val="400"/>
              </a:spcAft>
            </a:pPr>
            <a:r>
              <a:rPr sz="1200" b="0">
                <a:solidFill>
                  <a:srgbClr val="212529"/>
                </a:solidFill>
                <a:latin typeface="Calibri"/>
              </a:rPr>
              <a:t>• Output: Converts context into two bullets with 0 vector queries executed, retaining prior citations without hallucination</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dirty="0"/>
          </a:p>
          <a:p>
            <a:pPr>
              <a:spcBef>
                <a:spcPts val="200"/>
              </a:spcBef>
              <a:spcAft>
                <a:spcPts val="400"/>
              </a:spcAft>
            </a:pPr>
            <a:r>
              <a:rPr sz="1600" b="1">
                <a:solidFill>
                  <a:srgbClr val="704EA6"/>
                </a:solidFill>
                <a:latin typeface="Calibri"/>
              </a:rPr>
              <a:t>Engineered for Sub-Second Streaming &amp; Architectural Parsimony:</a:t>
            </a:r>
          </a:p>
          <a:p>
            <a:pPr>
              <a:spcBef>
                <a:spcPts val="200"/>
              </a:spcBef>
              <a:spcAft>
                <a:spcPts val="400"/>
              </a:spcAft>
            </a:pPr>
            <a:r>
              <a:rPr sz="1300" b="1">
                <a:solidFill>
                  <a:srgbClr val="212529"/>
                </a:solidFill>
                <a:latin typeface="Calibri"/>
              </a:rPr>
              <a:t>• Runtime &amp; Core Pipeline: Python 3.10+, Asyncio, Pydantic v2 (Strict Data Validation &amp; Event Schemas)</a:t>
            </a:r>
          </a:p>
          <a:p>
            <a:pPr>
              <a:spcBef>
                <a:spcPts val="200"/>
              </a:spcBef>
              <a:spcAft>
                <a:spcPts val="400"/>
              </a:spcAft>
            </a:pPr>
            <a:r>
              <a:rPr sz="1300" b="1">
                <a:solidFill>
                  <a:srgbClr val="212529"/>
                </a:solidFill>
                <a:latin typeface="Calibri"/>
              </a:rPr>
              <a:t>• Dense Semantic Search: SentenceTransformers (all-MiniLM-L6-v2) with zero-external-network SVD fallback</a:t>
            </a:r>
          </a:p>
          <a:p>
            <a:pPr>
              <a:spcBef>
                <a:spcPts val="200"/>
              </a:spcBef>
              <a:spcAft>
                <a:spcPts val="400"/>
              </a:spcAft>
            </a:pPr>
            <a:r>
              <a:rPr sz="1300" b="1">
                <a:solidFill>
                  <a:srgbClr val="212529"/>
                </a:solidFill>
                <a:latin typeface="Calibri"/>
              </a:rPr>
              <a:t>• Sparse Lexical Search: rank-bm25 (BM25Okapi with custom tokenization and stopword removal)</a:t>
            </a:r>
          </a:p>
          <a:p>
            <a:pPr>
              <a:spcBef>
                <a:spcPts val="200"/>
              </a:spcBef>
              <a:spcAft>
                <a:spcPts val="400"/>
              </a:spcAft>
            </a:pPr>
            <a:r>
              <a:rPr sz="1300" b="1">
                <a:solidFill>
                  <a:srgbClr val="212529"/>
                </a:solidFill>
                <a:latin typeface="Calibri"/>
              </a:rPr>
              <a:t>• Rank Fusion Algorithm: Reciprocal Rank Fusion (RRF, k=60) with cross-subquery candidate deduplication</a:t>
            </a:r>
          </a:p>
          <a:p>
            <a:pPr>
              <a:spcBef>
                <a:spcPts val="200"/>
              </a:spcBef>
              <a:spcAft>
                <a:spcPts val="400"/>
              </a:spcAft>
            </a:pPr>
            <a:r>
              <a:rPr sz="1300" b="1">
                <a:solidFill>
                  <a:srgbClr val="212529"/>
                </a:solidFill>
                <a:latin typeface="Calibri"/>
              </a:rPr>
              <a:t>• Session State &amp; Delta Mutation: Ephemeral In-Memory Store, Claim-Graph Mutation Engine, Citation Verifier</a:t>
            </a:r>
          </a:p>
          <a:p>
            <a:pPr>
              <a:spcBef>
                <a:spcPts val="200"/>
              </a:spcBef>
              <a:spcAft>
                <a:spcPts val="400"/>
              </a:spcAft>
            </a:pPr>
            <a:r>
              <a:rPr sz="1300" b="1">
                <a:solidFill>
                  <a:srgbClr val="212529"/>
                </a:solidFill>
                <a:latin typeface="Calibri"/>
              </a:rPr>
              <a:t>• Observability &amp; Telemetry: Custom latency profiler (TTFT, lead time, turn time) &amp; token inference cost tracker</a:t>
            </a:r>
          </a:p>
          <a:p>
            <a:pPr>
              <a:spcBef>
                <a:spcPts val="200"/>
              </a:spcBef>
              <a:spcAft>
                <a:spcPts val="400"/>
              </a:spcAft>
            </a:pPr>
            <a:r>
              <a:rPr sz="1300" b="1">
                <a:solidFill>
                  <a:srgbClr val="212529"/>
                </a:solidFill>
                <a:latin typeface="Calibri"/>
              </a:rPr>
              <a:t>• Packaging &amp; Reproducibility: Docker, Docker Compose, clean PowerShell / Bash one-command runners</a:t>
            </a:r>
          </a:p>
          <a:p>
            <a:pPr>
              <a:spcBef>
                <a:spcPts val="200"/>
              </a:spcBef>
              <a:spcAft>
                <a:spcPts val="400"/>
              </a:spcAft>
            </a:pPr>
            <a:r>
              <a:rPr sz="1300" b="1">
                <a:solidFill>
                  <a:srgbClr val="1A73E8"/>
                </a:solidFill>
                <a:latin typeface="Calibri"/>
              </a:rPr>
              <a:t>• Zero Heavy Dependencies: No bloated multi-agent frameworks (LangChain/AutoGen) — pure, ultra-fast Python execution (&lt; 80 ms latency)</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dirty="0"/>
          </a:p>
          <a:p>
            <a:pPr>
              <a:spcBef>
                <a:spcPts val="200"/>
              </a:spcBef>
              <a:spcAft>
                <a:spcPts val="400"/>
              </a:spcAft>
            </a:pPr>
            <a:r>
              <a:rPr sz="1600" b="1">
                <a:solidFill>
                  <a:srgbClr val="704EA6"/>
                </a:solidFill>
                <a:latin typeface="Calibri"/>
              </a:rPr>
              <a:t>Real-World Enterprise &amp; Device Impact:</a:t>
            </a:r>
          </a:p>
          <a:p>
            <a:pPr>
              <a:spcBef>
                <a:spcPts val="200"/>
              </a:spcBef>
              <a:spcAft>
                <a:spcPts val="400"/>
              </a:spcAft>
            </a:pPr>
            <a:r>
              <a:rPr sz="1400" b="1">
                <a:solidFill>
                  <a:srgbClr val="1A73E8"/>
                </a:solidFill>
                <a:latin typeface="Calibri"/>
              </a:rPr>
              <a:t>1. Galaxy AI &amp; Next-Generation Bixby Assistants:</a:t>
            </a:r>
          </a:p>
          <a:p>
            <a:pPr lvl="1">
              <a:spcBef>
                <a:spcPts val="200"/>
              </a:spcBef>
              <a:spcAft>
                <a:spcPts val="400"/>
              </a:spcAft>
            </a:pPr>
            <a:r>
              <a:rPr sz="1300" b="0">
                <a:solidFill>
                  <a:srgbClr val="212529"/>
                </a:solidFill>
                <a:latin typeface="Calibri"/>
              </a:rPr>
              <a:t>Enables true full-duplex spoken dialogue on mobile and smart home devices. Eliminates the awkward 3-second pause after voice commands, delivering near-instant responses.</a:t>
            </a:r>
          </a:p>
          <a:p>
            <a:pPr>
              <a:spcBef>
                <a:spcPts val="200"/>
              </a:spcBef>
              <a:spcAft>
                <a:spcPts val="400"/>
              </a:spcAft>
            </a:pPr>
            <a:r>
              <a:rPr sz="1400" b="1">
                <a:solidFill>
                  <a:srgbClr val="1A73E8"/>
                </a:solidFill>
                <a:latin typeface="Calibri"/>
              </a:rPr>
              <a:t>2. Enterprise Customer Support &amp; Contact Centers:</a:t>
            </a:r>
          </a:p>
          <a:p>
            <a:pPr lvl="1">
              <a:spcBef>
                <a:spcPts val="200"/>
              </a:spcBef>
              <a:spcAft>
                <a:spcPts val="400"/>
              </a:spcAft>
            </a:pPr>
            <a:r>
              <a:rPr sz="1300" b="0">
                <a:solidFill>
                  <a:srgbClr val="212529"/>
                </a:solidFill>
                <a:latin typeface="Calibri"/>
              </a:rPr>
              <a:t>Agents and voice bots retrieve relevant policy clauses while the customer is still explaining their problem, reducing Average Handle Time (AHT) by over 35%.</a:t>
            </a:r>
          </a:p>
          <a:p>
            <a:pPr>
              <a:spcBef>
                <a:spcPts val="200"/>
              </a:spcBef>
              <a:spcAft>
                <a:spcPts val="400"/>
              </a:spcAft>
            </a:pPr>
            <a:r>
              <a:rPr sz="1400" b="1">
                <a:solidFill>
                  <a:srgbClr val="1A73E8"/>
                </a:solidFill>
                <a:latin typeface="Calibri"/>
              </a:rPr>
              <a:t>3. Critical Real-Time Field Operations (Automotive, Medical, Aviation):</a:t>
            </a:r>
          </a:p>
          <a:p>
            <a:pPr lvl="1">
              <a:spcBef>
                <a:spcPts val="200"/>
              </a:spcBef>
              <a:spcAft>
                <a:spcPts val="400"/>
              </a:spcAft>
            </a:pPr>
            <a:r>
              <a:rPr sz="1300" b="0">
                <a:solidFill>
                  <a:srgbClr val="212529"/>
                </a:solidFill>
                <a:latin typeface="Calibri"/>
              </a:rPr>
              <a:t>Hands-free technicians can issue complex compound voice queries and refine constraints mid-task without losing operational flow or encountering hallucinations.</a:t>
            </a:r>
          </a:p>
          <a:p>
            <a:pPr>
              <a:spcBef>
                <a:spcPts val="200"/>
              </a:spcBef>
              <a:spcAft>
                <a:spcPts val="400"/>
              </a:spcAft>
            </a:pPr>
            <a:r>
              <a:rPr sz="1400" b="1">
                <a:solidFill>
                  <a:srgbClr val="1A73E8"/>
                </a:solidFill>
                <a:latin typeface="Calibri"/>
              </a:rPr>
              <a:t>4. Compute &amp; Cloud Cost Reduction:</a:t>
            </a:r>
          </a:p>
          <a:p>
            <a:pPr lvl="1">
              <a:spcBef>
                <a:spcPts val="200"/>
              </a:spcBef>
              <a:spcAft>
                <a:spcPts val="400"/>
              </a:spcAft>
            </a:pPr>
            <a:r>
              <a:rPr sz="1300" b="0">
                <a:solidFill>
                  <a:srgbClr val="212529"/>
                </a:solidFill>
                <a:latin typeface="Calibri"/>
              </a:rPr>
              <a:t>Presentation query suppression and entity stabilization prevent up to 70% of unnecessary vector search and LLM calls, minimizing cloud inference expenses.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dirty="0"/>
          </a:p>
        </p:txBody>
      </p:sp>
      <p:graphicFrame>
        <p:nvGraphicFramePr>
          <p:cNvPr id="4" name="Table 3"/>
          <p:cNvGraphicFramePr>
            <a:graphicFrameLocks noGrp="1"/>
          </p:cNvGraphicFramePr>
          <p:nvPr/>
        </p:nvGraphicFramePr>
        <p:xfrm>
          <a:off x="841248" y="1554480"/>
          <a:ext cx="10497312" cy="2512423"/>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182112">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352697">
                <a:tc>
                  <a:txBody>
                    <a:bodyPr/>
                    <a:lstStyle/>
                    <a:p>
                      <a:r>
                        <a:rPr sz="1100" b="1">
                          <a:solidFill>
                            <a:srgbClr val="FFFFFF"/>
                          </a:solidFill>
                          <a:latin typeface="Calibri"/>
                        </a:rPr>
                        <a:t>Gate</a:t>
                      </a:r>
                    </a:p>
                  </a:txBody>
                  <a:tcPr>
                    <a:solidFill>
                      <a:srgbClr val="704EA6"/>
                    </a:solidFill>
                  </a:tcPr>
                </a:tc>
                <a:tc>
                  <a:txBody>
                    <a:bodyPr/>
                    <a:lstStyle/>
                    <a:p>
                      <a:r>
                        <a:rPr sz="1100" b="1">
                          <a:solidFill>
                            <a:srgbClr val="FFFFFF"/>
                          </a:solidFill>
                          <a:latin typeface="Calibri"/>
                        </a:rPr>
                        <a:t>Acceptance Criterion</a:t>
                      </a:r>
                    </a:p>
                  </a:txBody>
                  <a:tcPr>
                    <a:solidFill>
                      <a:srgbClr val="704EA6"/>
                    </a:solidFill>
                  </a:tcPr>
                </a:tc>
                <a:tc>
                  <a:txBody>
                    <a:bodyPr/>
                    <a:lstStyle/>
                    <a:p>
                      <a:r>
                        <a:rPr sz="1100" b="1">
                          <a:solidFill>
                            <a:srgbClr val="FFFFFF"/>
                          </a:solidFill>
                          <a:latin typeface="Calibri"/>
                        </a:rPr>
                        <a:t>Target Threshold</a:t>
                      </a:r>
                    </a:p>
                  </a:txBody>
                  <a:tcPr>
                    <a:solidFill>
                      <a:srgbClr val="704EA6"/>
                    </a:solidFill>
                  </a:tcPr>
                </a:tc>
                <a:tc>
                  <a:txBody>
                    <a:bodyPr/>
                    <a:lstStyle/>
                    <a:p>
                      <a:r>
                        <a:rPr sz="1100" b="1">
                          <a:solidFill>
                            <a:srgbClr val="FFFFFF"/>
                          </a:solidFill>
                          <a:latin typeface="Calibri"/>
                        </a:rPr>
                        <a:t>Measured Score</a:t>
                      </a:r>
                    </a:p>
                  </a:txBody>
                  <a:tcPr>
                    <a:solidFill>
                      <a:srgbClr val="704EA6"/>
                    </a:solidFill>
                  </a:tcPr>
                </a:tc>
                <a:tc>
                  <a:txBody>
                    <a:bodyPr/>
                    <a:lstStyle/>
                    <a:p>
                      <a:r>
                        <a:rPr sz="1100" b="1">
                          <a:solidFill>
                            <a:srgbClr val="FFFFFF"/>
                          </a:solidFill>
                          <a:latin typeface="Calibri"/>
                        </a:rPr>
                        <a:t>Status</a:t>
                      </a:r>
                    </a:p>
                  </a:txBody>
                  <a:tcPr>
                    <a:solidFill>
                      <a:srgbClr val="704EA6"/>
                    </a:solidFill>
                  </a:tcPr>
                </a:tc>
                <a:extLst>
                  <a:ext uri="{0D108BD9-81ED-4DB2-BD59-A6C34878D82A}">
                    <a16:rowId xmlns:a16="http://schemas.microsoft.com/office/drawing/2014/main" val="10000"/>
                  </a:ext>
                </a:extLst>
              </a:tr>
              <a:tr h="352697">
                <a:tc>
                  <a:txBody>
                    <a:bodyPr/>
                    <a:lstStyle/>
                    <a:p>
                      <a:r>
                        <a:rPr sz="1000" b="1">
                          <a:solidFill>
                            <a:srgbClr val="704EA6"/>
                          </a:solidFill>
                          <a:latin typeface="Calibri"/>
                        </a:rPr>
                        <a:t>G1</a:t>
                      </a:r>
                    </a:p>
                  </a:txBody>
                  <a:tcPr>
                    <a:solidFill>
                      <a:srgbClr val="F9F9FC"/>
                    </a:solidFill>
                  </a:tcPr>
                </a:tc>
                <a:tc>
                  <a:txBody>
                    <a:bodyPr/>
                    <a:lstStyle/>
                    <a:p>
                      <a:r>
                        <a:rPr sz="1000">
                          <a:solidFill>
                            <a:srgbClr val="212529"/>
                          </a:solidFill>
                          <a:latin typeface="Calibri"/>
                        </a:rPr>
                        <a:t>Reproducibility</a:t>
                      </a:r>
                    </a:p>
                  </a:txBody>
                  <a:tcPr>
                    <a:solidFill>
                      <a:srgbClr val="F9F9FC"/>
                    </a:solidFill>
                  </a:tcPr>
                </a:tc>
                <a:tc>
                  <a:txBody>
                    <a:bodyPr/>
                    <a:lstStyle/>
                    <a:p>
                      <a:r>
                        <a:rPr sz="1000">
                          <a:solidFill>
                            <a:srgbClr val="212529"/>
                          </a:solidFill>
                          <a:latin typeface="Calibri"/>
                        </a:rPr>
                        <a:t>Pass/Fail</a:t>
                      </a:r>
                    </a:p>
                  </a:txBody>
                  <a:tcPr>
                    <a:solidFill>
                      <a:srgbClr val="F9F9FC"/>
                    </a:solidFill>
                  </a:tcPr>
                </a:tc>
                <a:tc>
                  <a:txBody>
                    <a:bodyPr/>
                    <a:lstStyle/>
                    <a:p>
                      <a:r>
                        <a:rPr sz="1000">
                          <a:solidFill>
                            <a:srgbClr val="212529"/>
                          </a:solidFill>
                          <a:latin typeface="Calibri"/>
                        </a:rPr>
                        <a:t>Single-command container/CLI launch with 0 manual steps</a:t>
                      </a:r>
                    </a:p>
                  </a:txBody>
                  <a:tcPr>
                    <a:solidFill>
                      <a:srgbClr val="F9F9FC"/>
                    </a:solidFill>
                  </a:tcPr>
                </a:tc>
                <a:tc>
                  <a:txBody>
                    <a:bodyPr/>
                    <a:lstStyle/>
                    <a:p>
                      <a:r>
                        <a:rPr sz="1000" b="1">
                          <a:solidFill>
                            <a:srgbClr val="0F9D58"/>
                          </a:solidFill>
                          <a:latin typeface="Calibri"/>
                        </a:rPr>
                        <a:t>PASS</a:t>
                      </a:r>
                    </a:p>
                  </a:txBody>
                  <a:tcPr>
                    <a:solidFill>
                      <a:srgbClr val="F9F9FC"/>
                    </a:solidFill>
                  </a:tcPr>
                </a:tc>
                <a:extLst>
                  <a:ext uri="{0D108BD9-81ED-4DB2-BD59-A6C34878D82A}">
                    <a16:rowId xmlns:a16="http://schemas.microsoft.com/office/drawing/2014/main" val="10001"/>
                  </a:ext>
                </a:extLst>
              </a:tr>
              <a:tr h="352697">
                <a:tc>
                  <a:txBody>
                    <a:bodyPr/>
                    <a:lstStyle/>
                    <a:p>
                      <a:r>
                        <a:rPr sz="1000" b="1">
                          <a:solidFill>
                            <a:srgbClr val="704EA6"/>
                          </a:solidFill>
                          <a:latin typeface="Calibri"/>
                        </a:rPr>
                        <a:t>G2</a:t>
                      </a:r>
                    </a:p>
                  </a:txBody>
                  <a:tcPr>
                    <a:solidFill>
                      <a:srgbClr val="EEEEF5"/>
                    </a:solidFill>
                  </a:tcPr>
                </a:tc>
                <a:tc>
                  <a:txBody>
                    <a:bodyPr/>
                    <a:lstStyle/>
                    <a:p>
                      <a:r>
                        <a:rPr sz="1000">
                          <a:solidFill>
                            <a:srgbClr val="212529"/>
                          </a:solidFill>
                          <a:latin typeface="Calibri"/>
                        </a:rPr>
                        <a:t>Early Retrieval</a:t>
                      </a:r>
                    </a:p>
                  </a:txBody>
                  <a:tcPr>
                    <a:solidFill>
                      <a:srgbClr val="EEEEF5"/>
                    </a:solidFill>
                  </a:tcPr>
                </a:tc>
                <a:tc>
                  <a:txBody>
                    <a:bodyPr/>
                    <a:lstStyle/>
                    <a:p>
                      <a:r>
                        <a:rPr sz="1000">
                          <a:solidFill>
                            <a:srgbClr val="212529"/>
                          </a:solidFill>
                          <a:latin typeface="Calibri"/>
                        </a:rPr>
                        <a:t>&gt;= 80% eligible queries</a:t>
                      </a:r>
                    </a:p>
                  </a:txBody>
                  <a:tcPr>
                    <a:solidFill>
                      <a:srgbClr val="EEEEF5"/>
                    </a:solidFill>
                  </a:tcPr>
                </a:tc>
                <a:tc>
                  <a:txBody>
                    <a:bodyPr/>
                    <a:lstStyle/>
                    <a:p>
                      <a:r>
                        <a:rPr sz="1000">
                          <a:solidFill>
                            <a:srgbClr val="212529"/>
                          </a:solidFill>
                          <a:latin typeface="Calibri"/>
                        </a:rPr>
                        <a:t>100.0% (Triggered at 0.8s, +1,300 ms lead-time)</a:t>
                      </a:r>
                    </a:p>
                  </a:txBody>
                  <a:tcPr>
                    <a:solidFill>
                      <a:srgbClr val="EEEEF5"/>
                    </a:solidFill>
                  </a:tcPr>
                </a:tc>
                <a:tc>
                  <a:txBody>
                    <a:bodyPr/>
                    <a:lstStyle/>
                    <a:p>
                      <a:r>
                        <a:rPr sz="1000" b="1">
                          <a:solidFill>
                            <a:srgbClr val="0F9D58"/>
                          </a:solidFill>
                          <a:latin typeface="Calibri"/>
                        </a:rPr>
                        <a:t>PASS</a:t>
                      </a:r>
                    </a:p>
                  </a:txBody>
                  <a:tcPr>
                    <a:solidFill>
                      <a:srgbClr val="EEEEF5"/>
                    </a:solidFill>
                  </a:tcPr>
                </a:tc>
                <a:extLst>
                  <a:ext uri="{0D108BD9-81ED-4DB2-BD59-A6C34878D82A}">
                    <a16:rowId xmlns:a16="http://schemas.microsoft.com/office/drawing/2014/main" val="10002"/>
                  </a:ext>
                </a:extLst>
              </a:tr>
              <a:tr h="352697">
                <a:tc>
                  <a:txBody>
                    <a:bodyPr/>
                    <a:lstStyle/>
                    <a:p>
                      <a:r>
                        <a:rPr sz="1000" b="1">
                          <a:solidFill>
                            <a:srgbClr val="704EA6"/>
                          </a:solidFill>
                          <a:latin typeface="Calibri"/>
                        </a:rPr>
                        <a:t>G3</a:t>
                      </a:r>
                    </a:p>
                  </a:txBody>
                  <a:tcPr>
                    <a:solidFill>
                      <a:srgbClr val="F9F9FC"/>
                    </a:solidFill>
                  </a:tcPr>
                </a:tc>
                <a:tc>
                  <a:txBody>
                    <a:bodyPr/>
                    <a:lstStyle/>
                    <a:p>
                      <a:r>
                        <a:rPr sz="1000">
                          <a:solidFill>
                            <a:srgbClr val="212529"/>
                          </a:solidFill>
                          <a:latin typeface="Calibri"/>
                        </a:rPr>
                        <a:t>Multi-Intent Identification</a:t>
                      </a:r>
                    </a:p>
                  </a:txBody>
                  <a:tcPr>
                    <a:solidFill>
                      <a:srgbClr val="F9F9FC"/>
                    </a:solidFill>
                  </a:tcPr>
                </a:tc>
                <a:tc>
                  <a:txBody>
                    <a:bodyPr/>
                    <a:lstStyle/>
                    <a:p>
                      <a:r>
                        <a:rPr sz="1000">
                          <a:solidFill>
                            <a:srgbClr val="212529"/>
                          </a:solidFill>
                          <a:latin typeface="Calibri"/>
                        </a:rPr>
                        <a:t>&gt;= 70% compound queries</a:t>
                      </a:r>
                    </a:p>
                  </a:txBody>
                  <a:tcPr>
                    <a:solidFill>
                      <a:srgbClr val="F9F9FC"/>
                    </a:solidFill>
                  </a:tcPr>
                </a:tc>
                <a:tc>
                  <a:txBody>
                    <a:bodyPr/>
                    <a:lstStyle/>
                    <a:p>
                      <a:r>
                        <a:rPr sz="1000">
                          <a:solidFill>
                            <a:srgbClr val="212529"/>
                          </a:solidFill>
                          <a:latin typeface="Calibri"/>
                        </a:rPr>
                        <a:t>100.0% (Isolates 3 orthogonal sub-queries with anchors)</a:t>
                      </a:r>
                    </a:p>
                  </a:txBody>
                  <a:tcPr>
                    <a:solidFill>
                      <a:srgbClr val="F9F9FC"/>
                    </a:solidFill>
                  </a:tcPr>
                </a:tc>
                <a:tc>
                  <a:txBody>
                    <a:bodyPr/>
                    <a:lstStyle/>
                    <a:p>
                      <a:r>
                        <a:rPr sz="1000" b="1">
                          <a:solidFill>
                            <a:srgbClr val="0F9D58"/>
                          </a:solidFill>
                          <a:latin typeface="Calibri"/>
                        </a:rPr>
                        <a:t>PASS</a:t>
                      </a:r>
                    </a:p>
                  </a:txBody>
                  <a:tcPr>
                    <a:solidFill>
                      <a:srgbClr val="F9F9FC"/>
                    </a:solidFill>
                  </a:tcPr>
                </a:tc>
                <a:extLst>
                  <a:ext uri="{0D108BD9-81ED-4DB2-BD59-A6C34878D82A}">
                    <a16:rowId xmlns:a16="http://schemas.microsoft.com/office/drawing/2014/main" val="10003"/>
                  </a:ext>
                </a:extLst>
              </a:tr>
              <a:tr h="352697">
                <a:tc>
                  <a:txBody>
                    <a:bodyPr/>
                    <a:lstStyle/>
                    <a:p>
                      <a:r>
                        <a:rPr sz="1000" b="1">
                          <a:solidFill>
                            <a:srgbClr val="704EA6"/>
                          </a:solidFill>
                          <a:latin typeface="Calibri"/>
                        </a:rPr>
                        <a:t>G4</a:t>
                      </a:r>
                    </a:p>
                  </a:txBody>
                  <a:tcPr>
                    <a:solidFill>
                      <a:srgbClr val="EEEEF5"/>
                    </a:solidFill>
                  </a:tcPr>
                </a:tc>
                <a:tc>
                  <a:txBody>
                    <a:bodyPr/>
                    <a:lstStyle/>
                    <a:p>
                      <a:r>
                        <a:rPr sz="1000">
                          <a:solidFill>
                            <a:srgbClr val="212529"/>
                          </a:solidFill>
                          <a:latin typeface="Calibri"/>
                        </a:rPr>
                        <a:t>Factual Grounding</a:t>
                      </a:r>
                    </a:p>
                  </a:txBody>
                  <a:tcPr>
                    <a:solidFill>
                      <a:srgbClr val="EEEEF5"/>
                    </a:solidFill>
                  </a:tcPr>
                </a:tc>
                <a:tc>
                  <a:txBody>
                    <a:bodyPr/>
                    <a:lstStyle/>
                    <a:p>
                      <a:r>
                        <a:rPr sz="1000">
                          <a:solidFill>
                            <a:srgbClr val="212529"/>
                          </a:solidFill>
                          <a:latin typeface="Calibri"/>
                        </a:rPr>
                        <a:t>&gt;= 85% citation support</a:t>
                      </a:r>
                    </a:p>
                  </a:txBody>
                  <a:tcPr>
                    <a:solidFill>
                      <a:srgbClr val="EEEEF5"/>
                    </a:solidFill>
                  </a:tcPr>
                </a:tc>
                <a:tc>
                  <a:txBody>
                    <a:bodyPr/>
                    <a:lstStyle/>
                    <a:p>
                      <a:r>
                        <a:rPr sz="1000">
                          <a:solidFill>
                            <a:srgbClr val="212529"/>
                          </a:solidFill>
                          <a:latin typeface="Calibri"/>
                        </a:rPr>
                        <a:t>100.0% (15/15 citations verified, 0 hallucinated IDs)</a:t>
                      </a:r>
                    </a:p>
                  </a:txBody>
                  <a:tcPr>
                    <a:solidFill>
                      <a:srgbClr val="EEEEF5"/>
                    </a:solidFill>
                  </a:tcPr>
                </a:tc>
                <a:tc>
                  <a:txBody>
                    <a:bodyPr/>
                    <a:lstStyle/>
                    <a:p>
                      <a:r>
                        <a:rPr sz="1000" b="1">
                          <a:solidFill>
                            <a:srgbClr val="0F9D58"/>
                          </a:solidFill>
                          <a:latin typeface="Calibri"/>
                        </a:rPr>
                        <a:t>PASS</a:t>
                      </a:r>
                    </a:p>
                  </a:txBody>
                  <a:tcPr>
                    <a:solidFill>
                      <a:srgbClr val="EEEEF5"/>
                    </a:solidFill>
                  </a:tcPr>
                </a:tc>
                <a:extLst>
                  <a:ext uri="{0D108BD9-81ED-4DB2-BD59-A6C34878D82A}">
                    <a16:rowId xmlns:a16="http://schemas.microsoft.com/office/drawing/2014/main" val="10004"/>
                  </a:ext>
                </a:extLst>
              </a:tr>
              <a:tr h="352697">
                <a:tc>
                  <a:txBody>
                    <a:bodyPr/>
                    <a:lstStyle/>
                    <a:p>
                      <a:r>
                        <a:rPr sz="1000" b="1">
                          <a:solidFill>
                            <a:srgbClr val="704EA6"/>
                          </a:solidFill>
                          <a:latin typeface="Calibri"/>
                        </a:rPr>
                        <a:t>G5</a:t>
                      </a:r>
                    </a:p>
                  </a:txBody>
                  <a:tcPr>
                    <a:solidFill>
                      <a:srgbClr val="F9F9FC"/>
                    </a:solidFill>
                  </a:tcPr>
                </a:tc>
                <a:tc>
                  <a:txBody>
                    <a:bodyPr/>
                    <a:lstStyle/>
                    <a:p>
                      <a:r>
                        <a:rPr sz="1000">
                          <a:solidFill>
                            <a:srgbClr val="212529"/>
                          </a:solidFill>
                          <a:latin typeface="Calibri"/>
                        </a:rPr>
                        <a:t>Session Refinement</a:t>
                      </a:r>
                    </a:p>
                  </a:txBody>
                  <a:tcPr>
                    <a:solidFill>
                      <a:srgbClr val="F9F9FC"/>
                    </a:solidFill>
                  </a:tcPr>
                </a:tc>
                <a:tc>
                  <a:txBody>
                    <a:bodyPr/>
                    <a:lstStyle/>
                    <a:p>
                      <a:r>
                        <a:rPr sz="1000">
                          <a:solidFill>
                            <a:srgbClr val="212529"/>
                          </a:solidFill>
                          <a:latin typeface="Calibri"/>
                        </a:rPr>
                        <a:t>Verified state continuity</a:t>
                      </a:r>
                    </a:p>
                  </a:txBody>
                  <a:tcPr>
                    <a:solidFill>
                      <a:srgbClr val="F9F9FC"/>
                    </a:solidFill>
                  </a:tcPr>
                </a:tc>
                <a:tc>
                  <a:txBody>
                    <a:bodyPr/>
                    <a:lstStyle/>
                    <a:p>
                      <a:r>
                        <a:rPr sz="1000">
                          <a:solidFill>
                            <a:srgbClr val="212529"/>
                          </a:solidFill>
                          <a:latin typeface="Calibri"/>
                        </a:rPr>
                        <a:t>100.0% (State preserved, v1 -&gt; v2, 0 full resets)</a:t>
                      </a:r>
                    </a:p>
                  </a:txBody>
                  <a:tcPr>
                    <a:solidFill>
                      <a:srgbClr val="F9F9FC"/>
                    </a:solidFill>
                  </a:tcPr>
                </a:tc>
                <a:tc>
                  <a:txBody>
                    <a:bodyPr/>
                    <a:lstStyle/>
                    <a:p>
                      <a:r>
                        <a:rPr sz="1000" b="1">
                          <a:solidFill>
                            <a:srgbClr val="0F9D58"/>
                          </a:solidFill>
                          <a:latin typeface="Calibri"/>
                        </a:rPr>
                        <a:t>PASS</a:t>
                      </a:r>
                    </a:p>
                  </a:txBody>
                  <a:tcPr>
                    <a:solidFill>
                      <a:srgbClr val="F9F9FC"/>
                    </a:solidFill>
                  </a:tcPr>
                </a:tc>
                <a:extLst>
                  <a:ext uri="{0D108BD9-81ED-4DB2-BD59-A6C34878D82A}">
                    <a16:rowId xmlns:a16="http://schemas.microsoft.com/office/drawing/2014/main" val="10005"/>
                  </a:ext>
                </a:extLst>
              </a:tr>
              <a:tr h="352698">
                <a:tc>
                  <a:txBody>
                    <a:bodyPr/>
                    <a:lstStyle/>
                    <a:p>
                      <a:r>
                        <a:rPr sz="1000" b="1">
                          <a:solidFill>
                            <a:srgbClr val="704EA6"/>
                          </a:solidFill>
                          <a:latin typeface="Calibri"/>
                        </a:rPr>
                        <a:t>G6</a:t>
                      </a:r>
                    </a:p>
                  </a:txBody>
                  <a:tcPr>
                    <a:solidFill>
                      <a:srgbClr val="EEEEF5"/>
                    </a:solidFill>
                  </a:tcPr>
                </a:tc>
                <a:tc>
                  <a:txBody>
                    <a:bodyPr/>
                    <a:lstStyle/>
                    <a:p>
                      <a:r>
                        <a:rPr sz="1000">
                          <a:solidFill>
                            <a:srgbClr val="212529"/>
                          </a:solidFill>
                          <a:latin typeface="Calibri"/>
                        </a:rPr>
                        <a:t>Telemetry &amp; Observability</a:t>
                      </a:r>
                    </a:p>
                  </a:txBody>
                  <a:tcPr>
                    <a:solidFill>
                      <a:srgbClr val="EEEEF5"/>
                    </a:solidFill>
                  </a:tcPr>
                </a:tc>
                <a:tc>
                  <a:txBody>
                    <a:bodyPr/>
                    <a:lstStyle/>
                    <a:p>
                      <a:r>
                        <a:rPr sz="1000">
                          <a:solidFill>
                            <a:srgbClr val="212529"/>
                          </a:solidFill>
                          <a:latin typeface="Calibri"/>
                        </a:rPr>
                        <a:t>100% trace coverage</a:t>
                      </a:r>
                    </a:p>
                  </a:txBody>
                  <a:tcPr>
                    <a:solidFill>
                      <a:srgbClr val="EEEEF5"/>
                    </a:solidFill>
                  </a:tcPr>
                </a:tc>
                <a:tc>
                  <a:txBody>
                    <a:bodyPr/>
                    <a:lstStyle/>
                    <a:p>
                      <a:r>
                        <a:rPr sz="1000">
                          <a:solidFill>
                            <a:srgbClr val="212529"/>
                          </a:solidFill>
                          <a:latin typeface="Calibri"/>
                        </a:rPr>
                        <a:t>100.0% (Full structured logs across all 7 turns)</a:t>
                      </a:r>
                    </a:p>
                  </a:txBody>
                  <a:tcPr>
                    <a:solidFill>
                      <a:srgbClr val="EEEEF5"/>
                    </a:solidFill>
                  </a:tcPr>
                </a:tc>
                <a:tc>
                  <a:txBody>
                    <a:bodyPr/>
                    <a:lstStyle/>
                    <a:p>
                      <a:r>
                        <a:rPr sz="1000" b="1">
                          <a:solidFill>
                            <a:srgbClr val="0F9D58"/>
                          </a:solidFill>
                          <a:latin typeface="Calibri"/>
                        </a:rPr>
                        <a:t>PASS</a:t>
                      </a:r>
                    </a:p>
                  </a:txBody>
                  <a:tcPr>
                    <a:solidFill>
                      <a:srgbClr val="EEEEF5"/>
                    </a:solidFill>
                  </a:tcPr>
                </a:tc>
                <a:extLst>
                  <a:ext uri="{0D108BD9-81ED-4DB2-BD59-A6C34878D82A}">
                    <a16:rowId xmlns:a16="http://schemas.microsoft.com/office/drawing/2014/main" val="10006"/>
                  </a:ext>
                </a:extLst>
              </a:tr>
            </a:tbl>
          </a:graphicData>
        </a:graphic>
      </p:graphicFrame>
      <p:sp>
        <p:nvSpPr>
          <p:cNvPr id="5" name="Rounded Rectangle 4"/>
          <p:cNvSpPr/>
          <p:nvPr/>
        </p:nvSpPr>
        <p:spPr>
          <a:xfrm>
            <a:off x="841248" y="4206240"/>
            <a:ext cx="5120640" cy="1600200"/>
          </a:xfrm>
          <a:prstGeom prst="roundRect">
            <a:avLst/>
          </a:prstGeom>
          <a:solidFill>
            <a:srgbClr val="F6F4FA"/>
          </a:solidFill>
          <a:ln>
            <a:solidFill>
              <a:srgbClr val="704E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704EA6"/>
                </a:solidFill>
                <a:latin typeface="Calibri"/>
              </a:rPr>
              <a:t>Key Architectural Innovations:</a:t>
            </a:r>
          </a:p>
          <a:p>
            <a:r>
              <a:rPr sz="950">
                <a:solidFill>
                  <a:srgbClr val="212529"/>
                </a:solidFill>
                <a:latin typeface="Calibri"/>
              </a:rPr>
              <a:t>• Proactive Intent Stabilization: Solves early retrieval thrashing via grammatical dangler &amp; entity checks.</a:t>
            </a:r>
          </a:p>
          <a:p>
            <a:r>
              <a:rPr sz="950">
                <a:solidFill>
                  <a:srgbClr val="212529"/>
                </a:solidFill>
                <a:latin typeface="Calibri"/>
              </a:rPr>
              <a:t>• Answer Delta Mutation Engine: Selectively queries and mutates affected claims without resetting conversation.</a:t>
            </a:r>
          </a:p>
        </p:txBody>
      </p:sp>
      <p:sp>
        <p:nvSpPr>
          <p:cNvPr id="6" name="Rounded Rectangle 5"/>
          <p:cNvSpPr/>
          <p:nvPr/>
        </p:nvSpPr>
        <p:spPr>
          <a:xfrm>
            <a:off x="6217920" y="4206240"/>
            <a:ext cx="5120640" cy="1600200"/>
          </a:xfrm>
          <a:prstGeom prst="roundRect">
            <a:avLst/>
          </a:prstGeom>
          <a:solidFill>
            <a:srgbClr val="F9F9FA"/>
          </a:solidFill>
          <a:ln>
            <a:solidFill>
              <a:srgbClr val="6C757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12529"/>
                </a:solidFill>
                <a:latin typeface="Calibri"/>
              </a:rPr>
              <a:t>Engineering Scope &amp; Real-World Boundaries:</a:t>
            </a:r>
          </a:p>
          <a:p>
            <a:r>
              <a:rPr sz="950">
                <a:solidFill>
                  <a:srgbClr val="212529"/>
                </a:solidFill>
                <a:latin typeface="Calibri"/>
              </a:rPr>
              <a:t>• Input Stream Scope: Benchmarked over timestamped transcript stream simulation; upstream ASR handles raw audio.</a:t>
            </a:r>
          </a:p>
          <a:p>
            <a:r>
              <a:rPr sz="950">
                <a:solidFill>
                  <a:srgbClr val="212529"/>
                </a:solidFill>
                <a:latin typeface="Calibri"/>
              </a:rPr>
              <a:t>• Ephemeral Session Privacy: Session state discarded on stream conclusion; zero cross-session user profiling.</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dirty="0"/>
          </a:p>
          <a:p>
            <a:pPr>
              <a:spcBef>
                <a:spcPts val="200"/>
              </a:spcBef>
              <a:spcAft>
                <a:spcPts val="400"/>
              </a:spcAft>
            </a:pPr>
            <a:r>
              <a:rPr sz="1600" b="1">
                <a:solidFill>
                  <a:srgbClr val="704EA6"/>
                </a:solidFill>
                <a:latin typeface="Calibri"/>
              </a:rPr>
              <a:t>Evolutionary Roadmap for the Samsung PRISM Worklet Phase:</a:t>
            </a:r>
          </a:p>
          <a:p>
            <a:pPr>
              <a:spcBef>
                <a:spcPts val="200"/>
              </a:spcBef>
              <a:spcAft>
                <a:spcPts val="400"/>
              </a:spcAft>
            </a:pPr>
            <a:r>
              <a:rPr sz="1400" b="1">
                <a:solidFill>
                  <a:srgbClr val="1A73E8"/>
                </a:solidFill>
                <a:latin typeface="Calibri"/>
              </a:rPr>
              <a:t>1. Edge Controller Distillation (0.5B Micro-SLM):</a:t>
            </a:r>
          </a:p>
          <a:p>
            <a:pPr lvl="1">
              <a:spcBef>
                <a:spcPts val="200"/>
              </a:spcBef>
              <a:spcAft>
                <a:spcPts val="400"/>
              </a:spcAft>
            </a:pPr>
            <a:r>
              <a:rPr sz="1300" b="0">
                <a:solidFill>
                  <a:srgbClr val="212529"/>
                </a:solidFill>
                <a:latin typeface="Calibri"/>
              </a:rPr>
              <a:t>Fine-tune a lightweight 0.5B parameter edge model (e.g. Qwen-2.5-0.5B) to emit discrete control tokens ([WAIT], [RETRIEVE], [SUPPRESS]) in &lt; 5ms, learning subtle user hesitation nuances.</a:t>
            </a:r>
          </a:p>
          <a:p>
            <a:pPr>
              <a:spcBef>
                <a:spcPts val="200"/>
              </a:spcBef>
              <a:spcAft>
                <a:spcPts val="400"/>
              </a:spcAft>
            </a:pPr>
            <a:r>
              <a:rPr sz="1400" b="1">
                <a:solidFill>
                  <a:srgbClr val="1A73E8"/>
                </a:solidFill>
                <a:latin typeface="Calibri"/>
              </a:rPr>
              <a:t>2. Episodic Knowledge Graphs (Dynamic GraphRAG for Claims):</a:t>
            </a:r>
          </a:p>
          <a:p>
            <a:pPr lvl="1">
              <a:spcBef>
                <a:spcPts val="200"/>
              </a:spcBef>
              <a:spcAft>
                <a:spcPts val="400"/>
              </a:spcAft>
            </a:pPr>
            <a:r>
              <a:rPr sz="1300" b="0">
                <a:solidFill>
                  <a:srgbClr val="212529"/>
                </a:solidFill>
                <a:latin typeface="Calibri"/>
              </a:rPr>
              <a:t>Upgrade text claim mutation to formal graph edge updates (Entity -[Relation]-&gt; Value [Doc §Sec]), providing mathematical guarantees against logical contradictions in complex multi-turn dialogues.</a:t>
            </a:r>
          </a:p>
          <a:p>
            <a:pPr>
              <a:spcBef>
                <a:spcPts val="200"/>
              </a:spcBef>
              <a:spcAft>
                <a:spcPts val="400"/>
              </a:spcAft>
            </a:pPr>
            <a:r>
              <a:rPr sz="1400" b="1">
                <a:solidFill>
                  <a:srgbClr val="1A73E8"/>
                </a:solidFill>
                <a:latin typeface="Calibri"/>
              </a:rPr>
              <a:t>3. Direct Audio-to-Evidence Acoustic Retrieval (SpeechRAG):</a:t>
            </a:r>
          </a:p>
          <a:p>
            <a:pPr lvl="1">
              <a:spcBef>
                <a:spcPts val="200"/>
              </a:spcBef>
              <a:spcAft>
                <a:spcPts val="400"/>
              </a:spcAft>
            </a:pPr>
            <a:r>
              <a:rPr sz="1300" b="0">
                <a:solidFill>
                  <a:srgbClr val="212529"/>
                </a:solidFill>
                <a:latin typeface="Calibri"/>
              </a:rPr>
              <a:t>Map raw audio spectrogram frames directly into a joint acoustic-semantic embedding space, retrieving documents directly from phoneme features to eliminate ASR cascade delays entirely.</a:t>
            </a:r>
          </a:p>
          <a:p>
            <a:pPr>
              <a:spcBef>
                <a:spcPts val="200"/>
              </a:spcBef>
              <a:spcAft>
                <a:spcPts val="400"/>
              </a:spcAft>
            </a:pPr>
            <a:r>
              <a:rPr sz="1400" b="1">
                <a:solidFill>
                  <a:srgbClr val="1A73E8"/>
                </a:solidFill>
                <a:latin typeface="Calibri"/>
              </a:rPr>
              <a:t>4. Speculative Answer Drafting &amp; Verification:</a:t>
            </a:r>
          </a:p>
          <a:p>
            <a:pPr lvl="1">
              <a:spcBef>
                <a:spcPts val="200"/>
              </a:spcBef>
              <a:spcAft>
                <a:spcPts val="400"/>
              </a:spcAft>
            </a:pPr>
            <a:r>
              <a:rPr sz="1300" b="0">
                <a:solidFill>
                  <a:srgbClr val="212529"/>
                </a:solidFill>
                <a:latin typeface="Calibri"/>
              </a:rPr>
              <a:t>Deploy an on-device Drafter LLM to generate candidate phrases concurrently with audio chunks, verified in a single pass by a larger model upon speech conclusion.</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endParaRPr lang="en-IN" dirty="0"/>
          </a:p>
          <a:p>
            <a:pPr>
              <a:spcBef>
                <a:spcPts val="200"/>
              </a:spcBef>
              <a:spcAft>
                <a:spcPts val="400"/>
              </a:spcAft>
            </a:pPr>
            <a:r>
              <a:rPr sz="1600" b="1">
                <a:solidFill>
                  <a:srgbClr val="704EA6"/>
                </a:solidFill>
                <a:latin typeface="Calibri"/>
              </a:rPr>
              <a:t>Why Our Architecture Stands Out from Other Teams:</a:t>
            </a:r>
          </a:p>
          <a:p>
            <a:pPr>
              <a:spcBef>
                <a:spcPts val="200"/>
              </a:spcBef>
              <a:spcAft>
                <a:spcPts val="400"/>
              </a:spcAft>
            </a:pPr>
            <a:r>
              <a:rPr sz="1400" b="1">
                <a:solidFill>
                  <a:srgbClr val="212529"/>
                </a:solidFill>
                <a:latin typeface="Calibri"/>
              </a:rPr>
              <a:t>1. Sub-15ms Latency vs 500ms Multi-Agent Lag:</a:t>
            </a:r>
          </a:p>
          <a:p>
            <a:pPr lvl="1">
              <a:spcBef>
                <a:spcPts val="200"/>
              </a:spcBef>
              <a:spcAft>
                <a:spcPts val="400"/>
              </a:spcAft>
            </a:pPr>
            <a:r>
              <a:rPr sz="1300" b="0">
                <a:solidFill>
                  <a:srgbClr val="212529"/>
                </a:solidFill>
                <a:latin typeface="Calibri"/>
              </a:rPr>
              <a:t>Other teams rely on bloated LangChain/AutoGen agent graphs that take 500-1000ms just to decide whether to search. Our lightweight event-driven pipeline runs in under 15ms, strictly satisfying Samsung's Architectural Parsimony requirement.</a:t>
            </a:r>
          </a:p>
          <a:p>
            <a:pPr>
              <a:spcBef>
                <a:spcPts val="200"/>
              </a:spcBef>
              <a:spcAft>
                <a:spcPts val="400"/>
              </a:spcAft>
            </a:pPr>
            <a:r>
              <a:rPr sz="1400" b="1">
                <a:solidFill>
                  <a:srgbClr val="212529"/>
                </a:solidFill>
                <a:latin typeface="Calibri"/>
              </a:rPr>
              <a:t>2. Zero-External-Dependency Reproducibility:</a:t>
            </a:r>
          </a:p>
          <a:p>
            <a:pPr lvl="1">
              <a:spcBef>
                <a:spcPts val="200"/>
              </a:spcBef>
              <a:spcAft>
                <a:spcPts val="400"/>
              </a:spcAft>
            </a:pPr>
            <a:r>
              <a:rPr sz="1300" b="0">
                <a:solidFill>
                  <a:srgbClr val="212529"/>
                </a:solidFill>
                <a:latin typeface="Calibri"/>
              </a:rPr>
              <a:t>Fully containerized, runs offline with local SentenceTransformers &amp; BM25 fallback. No external API keys to expire, no cloud rate-limits, and guaranteed 100% reproducible benchmark scores.</a:t>
            </a:r>
          </a:p>
          <a:p>
            <a:pPr>
              <a:spcBef>
                <a:spcPts val="200"/>
              </a:spcBef>
              <a:spcAft>
                <a:spcPts val="400"/>
              </a:spcAft>
            </a:pPr>
            <a:r>
              <a:rPr sz="1400" b="1">
                <a:solidFill>
                  <a:srgbClr val="212529"/>
                </a:solidFill>
                <a:latin typeface="Calibri"/>
              </a:rPr>
              <a:t>3. True Full-Duplex Predictive Retrieval:</a:t>
            </a:r>
          </a:p>
          <a:p>
            <a:pPr lvl="1">
              <a:spcBef>
                <a:spcPts val="200"/>
              </a:spcBef>
              <a:spcAft>
                <a:spcPts val="400"/>
              </a:spcAft>
            </a:pPr>
            <a:r>
              <a:rPr sz="1300" b="0">
                <a:solidFill>
                  <a:srgbClr val="212529"/>
                </a:solidFill>
                <a:latin typeface="Calibri"/>
              </a:rPr>
              <a:t>Unlocks a verified 1,300 ms lead time on compound queries while maintaining a 0% false-trigger rate on noise, speech hesitations, and presentation formatting requests.</a:t>
            </a:r>
          </a:p>
          <a:p>
            <a:pPr>
              <a:spcBef>
                <a:spcPts val="200"/>
              </a:spcBef>
              <a:spcAft>
                <a:spcPts val="400"/>
              </a:spcAft>
            </a:pPr>
            <a:r>
              <a:rPr sz="1400" b="1">
                <a:solidFill>
                  <a:srgbClr val="212529"/>
                </a:solidFill>
                <a:latin typeface="Calibri"/>
              </a:rPr>
              <a:t>4. Absolute Citation Grounding &amp; Transparent Uncertainty:</a:t>
            </a:r>
          </a:p>
          <a:p>
            <a:pPr lvl="1">
              <a:spcBef>
                <a:spcPts val="200"/>
              </a:spcBef>
              <a:spcAft>
                <a:spcPts val="400"/>
              </a:spcAft>
            </a:pPr>
            <a:r>
              <a:rPr sz="1300" b="0">
                <a:solidFill>
                  <a:srgbClr val="212529"/>
                </a:solidFill>
                <a:latin typeface="Calibri"/>
              </a:rPr>
              <a:t>Zero hallucinated document IDs. If evidence is missing (e.g. overnight accommodations), our system emits explicit uncertainty indicators rather than making up answers.</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wrap="square"/>
          <a:lstStyle/>
          <a:p>
            <a:pPr marL="177800" indent="-177800">
              <a:spcAft>
                <a:spcPts val="500"/>
              </a:spcAft>
              <a:buSzPct val="100000"/>
              <a:buChar char="•"/>
            </a:pPr>
            <a:endParaRPr lang="en-US" sz="2800" dirty="0"/>
          </a:p>
          <a:p>
            <a:pPr>
              <a:spcBef>
                <a:spcPts val="200"/>
              </a:spcBef>
              <a:spcAft>
                <a:spcPts val="400"/>
              </a:spcAft>
            </a:pPr>
            <a:r>
              <a:rPr sz="1600" b="1" dirty="0">
                <a:solidFill>
                  <a:srgbClr val="704EA6"/>
                </a:solidFill>
                <a:latin typeface="Calibri"/>
              </a:rPr>
              <a:t>Mandatory Submission Checklist Compliance:</a:t>
            </a:r>
          </a:p>
          <a:p>
            <a:pPr>
              <a:spcBef>
                <a:spcPts val="200"/>
              </a:spcBef>
              <a:spcAft>
                <a:spcPts val="400"/>
              </a:spcAft>
            </a:pPr>
            <a:r>
              <a:rPr sz="1400" b="1" dirty="0">
                <a:solidFill>
                  <a:schemeClr val="tx1">
                    <a:lumMod val="95000"/>
                    <a:lumOff val="5000"/>
                  </a:schemeClr>
                </a:solidFill>
                <a:latin typeface="Calibri"/>
              </a:rPr>
              <a:t>• Working prototype code — public or shared GitHub repo: YES</a:t>
            </a:r>
          </a:p>
          <a:p>
            <a:pPr lvl="1">
              <a:spcBef>
                <a:spcPts val="200"/>
              </a:spcBef>
              <a:spcAft>
                <a:spcPts val="400"/>
              </a:spcAft>
            </a:pPr>
            <a:r>
              <a:rPr sz="1300" b="1" dirty="0">
                <a:solidFill>
                  <a:schemeClr val="tx1">
                    <a:lumMod val="95000"/>
                    <a:lumOff val="5000"/>
                  </a:schemeClr>
                </a:solidFill>
                <a:latin typeface="Calibri"/>
              </a:rPr>
              <a:t>  Repository Link: </a:t>
            </a:r>
            <a:r>
              <a:rPr lang="en-IN" sz="1300" b="1" dirty="0">
                <a:solidFill>
                  <a:schemeClr val="tx1">
                    <a:lumMod val="95000"/>
                    <a:lumOff val="5000"/>
                  </a:schemeClr>
                </a:solidFill>
              </a:rPr>
              <a:t>https://github.com/GitWithAdi/Streaming-Live-RAG/tree/PRISM_GENAI_HACKATHON_Y2026</a:t>
            </a:r>
            <a:endParaRPr lang="en-US" sz="1300" b="1" dirty="0">
              <a:solidFill>
                <a:schemeClr val="tx1">
                  <a:lumMod val="95000"/>
                  <a:lumOff val="5000"/>
                </a:schemeClr>
              </a:solidFill>
              <a:latin typeface="Calibri"/>
            </a:endParaRPr>
          </a:p>
          <a:p>
            <a:pPr>
              <a:spcBef>
                <a:spcPts val="200"/>
              </a:spcBef>
              <a:spcAft>
                <a:spcPts val="400"/>
              </a:spcAft>
            </a:pPr>
            <a:r>
              <a:rPr lang="en-US" sz="1400" b="1" dirty="0">
                <a:solidFill>
                  <a:schemeClr val="tx1">
                    <a:lumMod val="95000"/>
                    <a:lumOff val="5000"/>
                  </a:schemeClr>
                </a:solidFill>
                <a:latin typeface="Calibri"/>
              </a:rPr>
              <a:t>• README with reproducible setup instructions: YES</a:t>
            </a:r>
          </a:p>
          <a:p>
            <a:pPr lvl="1">
              <a:spcBef>
                <a:spcPts val="200"/>
              </a:spcBef>
              <a:spcAft>
                <a:spcPts val="400"/>
              </a:spcAft>
            </a:pPr>
            <a:r>
              <a:rPr sz="1300" b="0" dirty="0">
                <a:solidFill>
                  <a:schemeClr val="tx1">
                    <a:lumMod val="95000"/>
                    <a:lumOff val="5000"/>
                  </a:schemeClr>
                </a:solidFill>
                <a:latin typeface="Calibri"/>
              </a:rPr>
              <a:t>  Includes one-command execution (run.ps1, run.sh, and docker compose up --build)</a:t>
            </a:r>
          </a:p>
          <a:p>
            <a:pPr>
              <a:spcBef>
                <a:spcPts val="200"/>
              </a:spcBef>
              <a:spcAft>
                <a:spcPts val="400"/>
              </a:spcAft>
            </a:pPr>
            <a:r>
              <a:rPr sz="1400" b="1" dirty="0">
                <a:solidFill>
                  <a:schemeClr val="tx1">
                    <a:lumMod val="95000"/>
                    <a:lumOff val="5000"/>
                  </a:schemeClr>
                </a:solidFill>
                <a:latin typeface="Calibri"/>
              </a:rPr>
              <a:t>• Demo video, max 5 minutes: YES</a:t>
            </a:r>
          </a:p>
          <a:p>
            <a:pPr lvl="1">
              <a:spcBef>
                <a:spcPts val="200"/>
              </a:spcBef>
              <a:spcAft>
                <a:spcPts val="400"/>
              </a:spcAft>
            </a:pPr>
            <a:r>
              <a:rPr sz="1300" b="1" dirty="0">
                <a:solidFill>
                  <a:schemeClr val="tx1">
                    <a:lumMod val="95000"/>
                    <a:lumOff val="5000"/>
                  </a:schemeClr>
                </a:solidFill>
                <a:latin typeface="Calibri"/>
              </a:rPr>
              <a:t>  Video Link: </a:t>
            </a:r>
            <a:r>
              <a:rPr lang="en-IN" sz="1300" b="1" dirty="0">
                <a:solidFill>
                  <a:schemeClr val="tx1">
                    <a:lumMod val="95000"/>
                    <a:lumOff val="5000"/>
                  </a:schemeClr>
                </a:solidFill>
                <a:hlinkClick r:id="rId2"/>
              </a:rPr>
              <a:t>https://drive.google.com/drive/folders/1ESU7GciUw4PzpmSpQ577GnLWuoR0X458?usp=sharing</a:t>
            </a:r>
            <a:endParaRPr lang="en-IN" sz="1300" b="1" dirty="0">
              <a:solidFill>
                <a:schemeClr val="tx1">
                  <a:lumMod val="95000"/>
                  <a:lumOff val="5000"/>
                </a:schemeClr>
              </a:solidFill>
            </a:endParaRPr>
          </a:p>
          <a:p>
            <a:pPr>
              <a:spcBef>
                <a:spcPts val="200"/>
              </a:spcBef>
              <a:spcAft>
                <a:spcPts val="400"/>
              </a:spcAft>
            </a:pPr>
            <a:r>
              <a:rPr sz="1400" b="1" dirty="0">
                <a:solidFill>
                  <a:schemeClr val="tx1">
                    <a:lumMod val="95000"/>
                    <a:lumOff val="5000"/>
                  </a:schemeClr>
                </a:solidFill>
                <a:latin typeface="Calibri"/>
              </a:rPr>
              <a:t>• Presentation file (PPT or PDF): YES</a:t>
            </a:r>
          </a:p>
          <a:p>
            <a:pPr lvl="1">
              <a:spcBef>
                <a:spcPts val="200"/>
              </a:spcBef>
              <a:spcAft>
                <a:spcPts val="400"/>
              </a:spcAft>
            </a:pPr>
            <a:r>
              <a:rPr sz="1300" b="0" dirty="0">
                <a:solidFill>
                  <a:schemeClr val="tx1">
                    <a:lumMod val="95000"/>
                    <a:lumOff val="5000"/>
                  </a:schemeClr>
                </a:solidFill>
                <a:latin typeface="Calibri"/>
              </a:rPr>
              <a:t>  Named: </a:t>
            </a:r>
            <a:r>
              <a:rPr lang="en-IN" sz="1300" dirty="0" err="1">
                <a:solidFill>
                  <a:schemeClr val="tx1">
                    <a:lumMod val="95000"/>
                    <a:lumOff val="5000"/>
                  </a:schemeClr>
                </a:solidFill>
                <a:latin typeface="Calibri"/>
              </a:rPr>
              <a:t>VITVellore</a:t>
            </a:r>
            <a:r>
              <a:rPr sz="1300" b="0" dirty="0">
                <a:solidFill>
                  <a:schemeClr val="tx1">
                    <a:lumMod val="95000"/>
                    <a:lumOff val="5000"/>
                  </a:schemeClr>
                </a:solidFill>
                <a:latin typeface="Calibri"/>
              </a:rPr>
              <a:t>_</a:t>
            </a:r>
            <a:r>
              <a:rPr lang="en-IN" sz="1300" dirty="0" err="1">
                <a:solidFill>
                  <a:schemeClr val="tx1">
                    <a:lumMod val="95000"/>
                    <a:lumOff val="5000"/>
                  </a:schemeClr>
                </a:solidFill>
                <a:latin typeface="Calibri"/>
              </a:rPr>
              <a:t>SlightlyHallucinating</a:t>
            </a:r>
            <a:r>
              <a:rPr sz="1300" b="0" dirty="0">
                <a:solidFill>
                  <a:schemeClr val="tx1">
                    <a:lumMod val="95000"/>
                    <a:lumOff val="5000"/>
                  </a:schemeClr>
                </a:solidFill>
                <a:latin typeface="Calibri"/>
              </a:rPr>
              <a:t>_Submission.pptx </a:t>
            </a:r>
          </a:p>
          <a:p>
            <a:pPr>
              <a:spcBef>
                <a:spcPts val="200"/>
              </a:spcBef>
              <a:spcAft>
                <a:spcPts val="400"/>
              </a:spcAft>
            </a:pPr>
            <a:r>
              <a:rPr sz="1400" b="1" dirty="0">
                <a:solidFill>
                  <a:schemeClr val="tx1">
                    <a:lumMod val="95000"/>
                    <a:lumOff val="5000"/>
                  </a:schemeClr>
                </a:solidFill>
                <a:latin typeface="Calibri"/>
              </a:rPr>
              <a:t>• Final Release Tag: PRISM_GENAI_HACKATHON_Y2026: YES</a:t>
            </a:r>
          </a:p>
          <a:p>
            <a:pPr lvl="1">
              <a:spcBef>
                <a:spcPts val="200"/>
              </a:spcBef>
              <a:spcAft>
                <a:spcPts val="400"/>
              </a:spcAft>
            </a:pPr>
            <a:r>
              <a:rPr sz="1300" b="0" dirty="0">
                <a:solidFill>
                  <a:schemeClr val="tx1">
                    <a:lumMod val="95000"/>
                    <a:lumOff val="5000"/>
                  </a:schemeClr>
                </a:solidFill>
                <a:latin typeface="Calibri"/>
              </a:rPr>
              <a:t>  Tagged on final commit containing code, PPT, documentation, and benchmark tests</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
        <p:nvSpPr>
          <p:cNvPr id="29" name="TextBox 28"/>
          <p:cNvSpPr txBox="1"/>
          <p:nvPr/>
        </p:nvSpPr>
        <p:spPr>
          <a:xfrm>
            <a:off x="1042415" y="4663440"/>
            <a:ext cx="4807855" cy="584775"/>
          </a:xfrm>
          <a:prstGeom prst="rect">
            <a:avLst/>
          </a:prstGeom>
          <a:noFill/>
        </p:spPr>
        <p:txBody>
          <a:bodyPr wrap="none">
            <a:spAutoFit/>
          </a:bodyPr>
          <a:lstStyle/>
          <a:p>
            <a:endParaRPr dirty="0"/>
          </a:p>
          <a:p>
            <a:r>
              <a:rPr sz="1400" b="1" dirty="0">
                <a:solidFill>
                  <a:srgbClr val="D9383A"/>
                </a:solidFill>
                <a:latin typeface="Calibri"/>
              </a:rPr>
              <a:t>Team Contact</a:t>
            </a:r>
            <a:r>
              <a:rPr sz="1400" b="1">
                <a:solidFill>
                  <a:srgbClr val="D9383A"/>
                </a:solidFill>
                <a:latin typeface="Calibri"/>
              </a:rPr>
              <a:t>: </a:t>
            </a:r>
            <a:r>
              <a:rPr lang="en-IN" sz="1400" b="1">
                <a:solidFill>
                  <a:srgbClr val="D9383A"/>
                </a:solidFill>
                <a:latin typeface="Calibri"/>
              </a:rPr>
              <a:t>adityapratap</a:t>
            </a:r>
            <a:r>
              <a:rPr lang="en-IN" sz="1400" b="1" dirty="0">
                <a:solidFill>
                  <a:srgbClr val="D9383A"/>
                </a:solidFill>
                <a:latin typeface="Calibri"/>
              </a:rPr>
              <a:t>.1226@gmail.com / Aditya Pratap</a:t>
            </a:r>
            <a:endParaRPr sz="1400" b="1" dirty="0">
              <a:solidFill>
                <a:srgbClr val="D9383A"/>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88</TotalTime>
  <Words>2058</Words>
  <Application>Microsoft Office PowerPoint</Application>
  <PresentationFormat>Widescreen</PresentationFormat>
  <Paragraphs>181</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Aditya Pratap</cp:lastModifiedBy>
  <cp:revision>8</cp:revision>
  <dcterms:created xsi:type="dcterms:W3CDTF">2026-09-07T12:01:01Z</dcterms:created>
  <dcterms:modified xsi:type="dcterms:W3CDTF">2026-09-30T13:53:59Z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